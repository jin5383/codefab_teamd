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embeddedFontLst>
    <p:embeddedFont>
      <p:font typeface="Asta Sans" panose="020B0600000101010101" charset="-127"/>
      <p:regular r:id="rId33"/>
      <p:bold r:id="rId34"/>
    </p:embeddedFont>
    <p:embeddedFont>
      <p:font typeface="Malgun Gothic" panose="020B0503020000020004" pitchFamily="50" charset="-127"/>
      <p:regular r:id="rId35"/>
      <p:bold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7" roundtripDataSignature="AMtx7mizBjptUPfBcZ8tr3bhAXzIiAei9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customschemas.google.com/relationships/presentationmetadata" Target="meta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4" name="Google Shape;4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1" name="Google Shape;5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6" name="Google Shape;5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f44738b4e9_5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3" name="Google Shape;63;g3f44738b4e9_5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f44738b4e9_5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9" name="Google Shape;69;g3f44738b4e9_5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f44738b4e9_5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6" name="Google Shape;96;g3f44738b4e9_5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f44738b4e9_6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2" name="Google Shape;102;g3f44738b4e9_6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f4729efffc_2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7" name="Google Shape;107;g3f4729efffc_2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f4729efffc_2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4" name="Google Shape;134;g3f4729efffc_2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f4729efffc_2_2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1" name="Google Shape;141;g3f4729efffc_2_2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f4729efffc_2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1" name="Google Shape;171;g3f4729efffc_2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f4729efffc_2_4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05" name="Google Shape;205;g3f4729efffc_2_4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f44738b4e9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35" name="Google Shape;235;g3f44738b4e9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f44738b4e9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40" name="Google Shape;240;g3f44738b4e9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f4729efffc_14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f4729efffc_14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f4729efffc_14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3f4729efffc_14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f44738b4e9_6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86" name="Google Shape;286;g3f44738b4e9_6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f4729efffc_2_2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92" name="Google Shape;292;g3f4729efffc_2_2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f4729efffc_2_2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99" name="Google Shape;299;g3f4729efffc_2_2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f4729efffc_2_3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9" name="Google Shape;309;g3f4729efffc_2_3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f44738b4e9_6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22" name="Google Shape;322;g3f44738b4e9_6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f4729efffc_2_2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28" name="Google Shape;328;g3f4729efffc_2_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f4729efffc_2_2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39" name="Google Shape;339;g3f4729efffc_2_2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f4729efffc_17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3f4729efffc_17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f4729efffc_17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52" name="Google Shape;352;g3f4729efffc_17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f4729efffc_17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3f4729efffc_17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f4729efffc_17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3f4729efffc_17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f4729efffc_2_2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76" name="Google Shape;376;g3f4729efffc_2_2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f4729efffc_26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81" name="Google Shape;381;g3f4729efffc_26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f44738b4e9_6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92" name="Google Shape;392;g3f44738b4e9_6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>
  <p:cSld name="제목 슬라이드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6"/>
          <p:cNvSpPr txBox="1">
            <a:spLocks noGrp="1"/>
          </p:cNvSpPr>
          <p:nvPr>
            <p:ph type="body" idx="1"/>
          </p:nvPr>
        </p:nvSpPr>
        <p:spPr>
          <a:xfrm>
            <a:off x="7671999" y="5301208"/>
            <a:ext cx="3987692" cy="88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>
            <a:lvl1pPr marL="457200" lvl="0" indent="-2286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1500"/>
              <a:buNone/>
              <a:defRPr sz="1500" b="0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2400"/>
              <a:buChar char="•"/>
              <a:defRPr>
                <a:solidFill>
                  <a:srgbClr val="7F7F7F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2000"/>
              <a:buChar char="•"/>
              <a:defRPr>
                <a:solidFill>
                  <a:srgbClr val="7F7F7F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>
                <a:solidFill>
                  <a:srgbClr val="7F7F7F"/>
                </a:solidFill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>
                <a:solidFill>
                  <a:srgbClr val="7F7F7F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" name="Google Shape;13;p6"/>
          <p:cNvSpPr txBox="1"/>
          <p:nvPr/>
        </p:nvSpPr>
        <p:spPr>
          <a:xfrm>
            <a:off x="618827" y="321810"/>
            <a:ext cx="1794274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ko-KR" sz="16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Create your value </a:t>
            </a:r>
            <a:endParaRPr sz="1600" b="1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" name="Google Shape;14;p6"/>
          <p:cNvSpPr txBox="1">
            <a:spLocks noGrp="1"/>
          </p:cNvSpPr>
          <p:nvPr>
            <p:ph type="body" idx="2"/>
          </p:nvPr>
        </p:nvSpPr>
        <p:spPr>
          <a:xfrm>
            <a:off x="1329231" y="1952626"/>
            <a:ext cx="6317711" cy="1260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15" name="Google Shape;15;p6"/>
          <p:cNvGrpSpPr/>
          <p:nvPr/>
        </p:nvGrpSpPr>
        <p:grpSpPr>
          <a:xfrm>
            <a:off x="1107692" y="1513269"/>
            <a:ext cx="6785846" cy="3239999"/>
            <a:chOff x="900000" y="1513268"/>
            <a:chExt cx="5513500" cy="3239999"/>
          </a:xfrm>
        </p:grpSpPr>
        <p:grpSp>
          <p:nvGrpSpPr>
            <p:cNvPr id="16" name="Google Shape;16;p6"/>
            <p:cNvGrpSpPr/>
            <p:nvPr/>
          </p:nvGrpSpPr>
          <p:grpSpPr>
            <a:xfrm>
              <a:off x="900000" y="1513268"/>
              <a:ext cx="180000" cy="3239999"/>
              <a:chOff x="900000" y="1513268"/>
              <a:chExt cx="180000" cy="3239999"/>
            </a:xfrm>
          </p:grpSpPr>
          <p:sp>
            <p:nvSpPr>
              <p:cNvPr id="17" name="Google Shape;17;p6"/>
              <p:cNvSpPr/>
              <p:nvPr/>
            </p:nvSpPr>
            <p:spPr>
              <a:xfrm>
                <a:off x="900000" y="1513268"/>
                <a:ext cx="180000" cy="360000"/>
              </a:xfrm>
              <a:prstGeom prst="rect">
                <a:avLst/>
              </a:prstGeom>
              <a:solidFill>
                <a:srgbClr val="005AB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18" name="Google Shape;18;p6"/>
              <p:cNvSpPr/>
              <p:nvPr/>
            </p:nvSpPr>
            <p:spPr>
              <a:xfrm rot="10800000">
                <a:off x="900000" y="4393267"/>
                <a:ext cx="180000" cy="360000"/>
              </a:xfrm>
              <a:prstGeom prst="rect">
                <a:avLst/>
              </a:prstGeom>
              <a:solidFill>
                <a:srgbClr val="005AB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grpSp>
          <p:nvGrpSpPr>
            <p:cNvPr id="19" name="Google Shape;19;p6"/>
            <p:cNvGrpSpPr/>
            <p:nvPr/>
          </p:nvGrpSpPr>
          <p:grpSpPr>
            <a:xfrm>
              <a:off x="900000" y="1513268"/>
              <a:ext cx="5513500" cy="3239999"/>
              <a:chOff x="900000" y="1513268"/>
              <a:chExt cx="5513500" cy="3239999"/>
            </a:xfrm>
          </p:grpSpPr>
          <p:sp>
            <p:nvSpPr>
              <p:cNvPr id="20" name="Google Shape;20;p6"/>
              <p:cNvSpPr/>
              <p:nvPr/>
            </p:nvSpPr>
            <p:spPr>
              <a:xfrm>
                <a:off x="6233500" y="1513268"/>
                <a:ext cx="180000" cy="360000"/>
              </a:xfrm>
              <a:prstGeom prst="rect">
                <a:avLst/>
              </a:prstGeom>
              <a:solidFill>
                <a:srgbClr val="005AB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5AB4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grpSp>
            <p:nvGrpSpPr>
              <p:cNvPr id="21" name="Google Shape;21;p6"/>
              <p:cNvGrpSpPr/>
              <p:nvPr/>
            </p:nvGrpSpPr>
            <p:grpSpPr>
              <a:xfrm>
                <a:off x="900000" y="1513269"/>
                <a:ext cx="5513500" cy="3239997"/>
                <a:chOff x="900000" y="1513269"/>
                <a:chExt cx="3240000" cy="3239997"/>
              </a:xfrm>
            </p:grpSpPr>
            <p:sp>
              <p:nvSpPr>
                <p:cNvPr id="22" name="Google Shape;22;p6"/>
                <p:cNvSpPr/>
                <p:nvPr/>
              </p:nvSpPr>
              <p:spPr>
                <a:xfrm rot="-5400000">
                  <a:off x="2430000" y="-16731"/>
                  <a:ext cx="180000" cy="3240000"/>
                </a:xfrm>
                <a:prstGeom prst="rect">
                  <a:avLst/>
                </a:prstGeom>
                <a:solidFill>
                  <a:srgbClr val="005AB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23" name="Google Shape;23;p6"/>
                <p:cNvSpPr/>
                <p:nvPr/>
              </p:nvSpPr>
              <p:spPr>
                <a:xfrm rot="5400000">
                  <a:off x="2430000" y="3043266"/>
                  <a:ext cx="180000" cy="3240000"/>
                </a:xfrm>
                <a:prstGeom prst="rect">
                  <a:avLst/>
                </a:prstGeom>
                <a:solidFill>
                  <a:srgbClr val="005AB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</p:grpSp>
          <p:sp>
            <p:nvSpPr>
              <p:cNvPr id="24" name="Google Shape;24;p6"/>
              <p:cNvSpPr/>
              <p:nvPr/>
            </p:nvSpPr>
            <p:spPr>
              <a:xfrm rot="10800000">
                <a:off x="6233500" y="4393267"/>
                <a:ext cx="180000" cy="360000"/>
              </a:xfrm>
              <a:prstGeom prst="rect">
                <a:avLst/>
              </a:prstGeom>
              <a:solidFill>
                <a:srgbClr val="005AB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</p:grpSp>
      <p:sp>
        <p:nvSpPr>
          <p:cNvPr id="25" name="Google Shape;25;p6"/>
          <p:cNvSpPr txBox="1">
            <a:spLocks noGrp="1"/>
          </p:cNvSpPr>
          <p:nvPr>
            <p:ph type="body" idx="3"/>
          </p:nvPr>
        </p:nvSpPr>
        <p:spPr>
          <a:xfrm>
            <a:off x="1329231" y="3356992"/>
            <a:ext cx="6317711" cy="720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None/>
              <a:defRPr sz="2000" b="1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body" idx="4"/>
          </p:nvPr>
        </p:nvSpPr>
        <p:spPr>
          <a:xfrm>
            <a:off x="7671999" y="4928089"/>
            <a:ext cx="3987692" cy="373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>
            <a:lvl1pPr marL="457200" lvl="0" indent="-2286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1600"/>
              <a:buNone/>
              <a:defRPr sz="1600" b="0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2400"/>
              <a:buChar char="•"/>
              <a:defRPr>
                <a:solidFill>
                  <a:srgbClr val="7F7F7F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2000"/>
              <a:buChar char="•"/>
              <a:defRPr>
                <a:solidFill>
                  <a:srgbClr val="7F7F7F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>
                <a:solidFill>
                  <a:srgbClr val="7F7F7F"/>
                </a:solidFill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>
                <a:solidFill>
                  <a:srgbClr val="7F7F7F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제목 슬라이드">
  <p:cSld name="1_제목 슬라이드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body" idx="1"/>
          </p:nvPr>
        </p:nvSpPr>
        <p:spPr>
          <a:xfrm>
            <a:off x="1632000" y="1860184"/>
            <a:ext cx="8928000" cy="2533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29" name="Google Shape;29;p7"/>
          <p:cNvGrpSpPr/>
          <p:nvPr/>
        </p:nvGrpSpPr>
        <p:grpSpPr>
          <a:xfrm>
            <a:off x="1107688" y="1500183"/>
            <a:ext cx="10145030" cy="3253087"/>
            <a:chOff x="899998" y="1500182"/>
            <a:chExt cx="5513502" cy="3253087"/>
          </a:xfrm>
        </p:grpSpPr>
        <p:sp>
          <p:nvSpPr>
            <p:cNvPr id="30" name="Google Shape;30;p7"/>
            <p:cNvSpPr/>
            <p:nvPr/>
          </p:nvSpPr>
          <p:spPr>
            <a:xfrm>
              <a:off x="899999" y="1513268"/>
              <a:ext cx="58695" cy="1080000"/>
            </a:xfrm>
            <a:prstGeom prst="rect">
              <a:avLst/>
            </a:prstGeom>
            <a:solidFill>
              <a:srgbClr val="005AB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31" name="Google Shape;31;p7"/>
            <p:cNvGrpSpPr/>
            <p:nvPr/>
          </p:nvGrpSpPr>
          <p:grpSpPr>
            <a:xfrm>
              <a:off x="899998" y="1500182"/>
              <a:ext cx="5513502" cy="3253087"/>
              <a:chOff x="899998" y="1500182"/>
              <a:chExt cx="5513502" cy="3253087"/>
            </a:xfrm>
          </p:grpSpPr>
          <p:grpSp>
            <p:nvGrpSpPr>
              <p:cNvPr id="32" name="Google Shape;32;p7"/>
              <p:cNvGrpSpPr/>
              <p:nvPr/>
            </p:nvGrpSpPr>
            <p:grpSpPr>
              <a:xfrm>
                <a:off x="899998" y="1500182"/>
                <a:ext cx="5513502" cy="3253087"/>
                <a:chOff x="899999" y="1500182"/>
                <a:chExt cx="3240002" cy="3253087"/>
              </a:xfrm>
            </p:grpSpPr>
            <p:sp>
              <p:nvSpPr>
                <p:cNvPr id="33" name="Google Shape;33;p7"/>
                <p:cNvSpPr/>
                <p:nvPr/>
              </p:nvSpPr>
              <p:spPr>
                <a:xfrm rot="-5400000">
                  <a:off x="1880752" y="519429"/>
                  <a:ext cx="108000" cy="2069506"/>
                </a:xfrm>
                <a:prstGeom prst="rect">
                  <a:avLst/>
                </a:prstGeom>
                <a:solidFill>
                  <a:srgbClr val="005AB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34" name="Google Shape;34;p7"/>
                <p:cNvSpPr/>
                <p:nvPr/>
              </p:nvSpPr>
              <p:spPr>
                <a:xfrm rot="5400000">
                  <a:off x="3051247" y="3664515"/>
                  <a:ext cx="108000" cy="2069507"/>
                </a:xfrm>
                <a:prstGeom prst="rect">
                  <a:avLst/>
                </a:prstGeom>
                <a:solidFill>
                  <a:srgbClr val="005AB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</p:grpSp>
          <p:sp>
            <p:nvSpPr>
              <p:cNvPr id="35" name="Google Shape;35;p7"/>
              <p:cNvSpPr/>
              <p:nvPr/>
            </p:nvSpPr>
            <p:spPr>
              <a:xfrm rot="10800000">
                <a:off x="6354805" y="3673267"/>
                <a:ext cx="58695" cy="1080000"/>
              </a:xfrm>
              <a:prstGeom prst="rect">
                <a:avLst/>
              </a:prstGeom>
              <a:solidFill>
                <a:srgbClr val="005AB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제목 슬라이드">
  <p:cSld name="2_제목 슬라이드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605980" y="310143"/>
            <a:ext cx="10515600" cy="649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/>
          <p:nvPr/>
        </p:nvSpPr>
        <p:spPr>
          <a:xfrm>
            <a:off x="373750" y="327899"/>
            <a:ext cx="232230" cy="635235"/>
          </a:xfrm>
          <a:prstGeom prst="rect">
            <a:avLst/>
          </a:prstGeom>
          <a:solidFill>
            <a:srgbClr val="005AB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9" name="Google Shape;39;p8"/>
          <p:cNvSpPr txBox="1">
            <a:spLocks noGrp="1"/>
          </p:cNvSpPr>
          <p:nvPr>
            <p:ph type="body" idx="1"/>
          </p:nvPr>
        </p:nvSpPr>
        <p:spPr>
          <a:xfrm>
            <a:off x="605980" y="1316376"/>
            <a:ext cx="10515600" cy="4927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40" name="Google Shape;40;p8"/>
          <p:cNvCxnSpPr/>
          <p:nvPr/>
        </p:nvCxnSpPr>
        <p:spPr>
          <a:xfrm>
            <a:off x="720725" y="960002"/>
            <a:ext cx="11471275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사용자 지정 레이아웃">
  <p:cSld name="1_사용자 지정 레이아웃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9" name="Google Shape;9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0" name="Google Shape;10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github.com/jin5383/CodeFab_TeamD/blob/master/docs/unit-io-spec.md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"/>
          <p:cNvSpPr txBox="1">
            <a:spLocks noGrp="1"/>
          </p:cNvSpPr>
          <p:nvPr>
            <p:ph type="body" idx="1"/>
          </p:nvPr>
        </p:nvSpPr>
        <p:spPr>
          <a:xfrm>
            <a:off x="7671999" y="5301208"/>
            <a:ext cx="3987692" cy="88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None/>
            </a:pPr>
            <a:r>
              <a:rPr lang="ko-KR" sz="1600">
                <a:latin typeface="Asta Sans"/>
                <a:ea typeface="Asta Sans"/>
                <a:cs typeface="Asta Sans"/>
                <a:sym typeface="Asta Sans"/>
              </a:rPr>
              <a:t>2026.07.10</a:t>
            </a:r>
            <a:endParaRPr>
              <a:latin typeface="Asta Sans"/>
              <a:ea typeface="Asta Sans"/>
              <a:cs typeface="Asta Sans"/>
              <a:sym typeface="Asta Sans"/>
            </a:endParaRPr>
          </a:p>
        </p:txBody>
      </p:sp>
      <p:sp>
        <p:nvSpPr>
          <p:cNvPr id="47" name="Google Shape;47;p1"/>
          <p:cNvSpPr txBox="1">
            <a:spLocks noGrp="1"/>
          </p:cNvSpPr>
          <p:nvPr>
            <p:ph type="body" idx="2"/>
          </p:nvPr>
        </p:nvSpPr>
        <p:spPr>
          <a:xfrm>
            <a:off x="1329231" y="2151976"/>
            <a:ext cx="6317700" cy="12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ko-KR" sz="4000">
                <a:latin typeface="Asta Sans"/>
                <a:ea typeface="Asta Sans"/>
                <a:cs typeface="Asta Sans"/>
                <a:sym typeface="Asta Sans"/>
              </a:rPr>
              <a:t>D-Fine Team (4조)</a:t>
            </a:r>
            <a:endParaRPr sz="4000">
              <a:latin typeface="Asta Sans"/>
              <a:ea typeface="Asta Sans"/>
              <a:cs typeface="Asta Sans"/>
              <a:sym typeface="Asta Sans"/>
            </a:endParaRPr>
          </a:p>
        </p:txBody>
      </p:sp>
      <p:sp>
        <p:nvSpPr>
          <p:cNvPr id="48" name="Google Shape;48;p1"/>
          <p:cNvSpPr txBox="1">
            <a:spLocks noGrp="1"/>
          </p:cNvSpPr>
          <p:nvPr>
            <p:ph type="body" idx="3"/>
          </p:nvPr>
        </p:nvSpPr>
        <p:spPr>
          <a:xfrm>
            <a:off x="1329231" y="3356992"/>
            <a:ext cx="6317711" cy="720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None/>
            </a:pPr>
            <a:r>
              <a:rPr lang="ko-KR">
                <a:latin typeface="Asta Sans"/>
                <a:ea typeface="Asta Sans"/>
                <a:cs typeface="Asta Sans"/>
                <a:sym typeface="Asta Sans"/>
              </a:rPr>
              <a:t>CRA과정 프로젝트</a:t>
            </a:r>
            <a:endParaRPr>
              <a:latin typeface="Asta Sans"/>
              <a:ea typeface="Asta Sans"/>
              <a:cs typeface="Asta Sans"/>
              <a:sym typeface="Asta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"/>
          <p:cNvSpPr txBox="1">
            <a:spLocks noGrp="1"/>
          </p:cNvSpPr>
          <p:nvPr>
            <p:ph type="body" idx="1"/>
          </p:nvPr>
        </p:nvSpPr>
        <p:spPr>
          <a:xfrm>
            <a:off x="1632000" y="1860184"/>
            <a:ext cx="8928000" cy="253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ko-KR" sz="4000">
                <a:latin typeface="Asta Sans"/>
                <a:ea typeface="Asta Sans"/>
                <a:cs typeface="Asta Sans"/>
                <a:sym typeface="Asta Sans"/>
              </a:rPr>
              <a:t>조원 소개 및 역할</a:t>
            </a:r>
            <a:endParaRPr sz="4000">
              <a:latin typeface="Asta Sans"/>
              <a:ea typeface="Asta Sans"/>
              <a:cs typeface="Asta Sans"/>
              <a:sym typeface="Asta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84625" y="3381375"/>
            <a:ext cx="4182400" cy="3476625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3"/>
          <p:cNvSpPr txBox="1">
            <a:spLocks noGrp="1"/>
          </p:cNvSpPr>
          <p:nvPr>
            <p:ph type="title"/>
          </p:nvPr>
        </p:nvSpPr>
        <p:spPr>
          <a:xfrm>
            <a:off x="605980" y="310143"/>
            <a:ext cx="10515600" cy="6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ko-KR" sz="3200" b="1">
                <a:latin typeface="Asta Sans"/>
                <a:ea typeface="Asta Sans"/>
                <a:cs typeface="Asta Sans"/>
                <a:sym typeface="Asta Sans"/>
              </a:rPr>
              <a:t> TDD 방식 (Workflow)</a:t>
            </a:r>
            <a:endParaRPr b="1">
              <a:latin typeface="Asta Sans"/>
              <a:ea typeface="Asta Sans"/>
              <a:cs typeface="Asta Sans"/>
              <a:sym typeface="Asta Sans"/>
            </a:endParaRPr>
          </a:p>
        </p:txBody>
      </p:sp>
      <p:sp>
        <p:nvSpPr>
          <p:cNvPr id="60" name="Google Shape;60;p3"/>
          <p:cNvSpPr txBox="1">
            <a:spLocks noGrp="1"/>
          </p:cNvSpPr>
          <p:nvPr>
            <p:ph type="body" idx="1"/>
          </p:nvPr>
        </p:nvSpPr>
        <p:spPr>
          <a:xfrm>
            <a:off x="605980" y="1316376"/>
            <a:ext cx="10515600" cy="492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sta Sans"/>
              <a:buChar char="●"/>
            </a:pPr>
            <a:r>
              <a:rPr lang="ko-KR">
                <a:latin typeface="Asta Sans"/>
                <a:ea typeface="Asta Sans"/>
                <a:cs typeface="Asta Sans"/>
                <a:sym typeface="Asta Sans"/>
              </a:rPr>
              <a:t>Red, Green</a:t>
            </a:r>
            <a:endParaRPr>
              <a:latin typeface="Asta Sans"/>
              <a:ea typeface="Asta Sans"/>
              <a:cs typeface="Asta Sans"/>
              <a:sym typeface="Asta Sans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sta Sans"/>
              <a:buChar char="○"/>
            </a:pPr>
            <a:r>
              <a:rPr lang="ko-KR">
                <a:latin typeface="Asta Sans"/>
                <a:ea typeface="Asta Sans"/>
                <a:cs typeface="Asta Sans"/>
                <a:sym typeface="Asta Sans"/>
              </a:rPr>
              <a:t>모듈별 Red, Green 담당자를 고정한다</a:t>
            </a:r>
            <a:endParaRPr>
              <a:latin typeface="Asta Sans"/>
              <a:ea typeface="Asta Sans"/>
              <a:cs typeface="Asta Sans"/>
              <a:sym typeface="Asta Sans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sta Sans"/>
              <a:buChar char="○"/>
            </a:pPr>
            <a:r>
              <a:rPr lang="ko-KR">
                <a:latin typeface="Asta Sans"/>
                <a:ea typeface="Asta Sans"/>
                <a:cs typeface="Asta Sans"/>
                <a:sym typeface="Asta Sans"/>
              </a:rPr>
              <a:t>서로의 코드를 Review하여 모듈에 대한 이해도를 높인다</a:t>
            </a:r>
            <a:endParaRPr>
              <a:latin typeface="Asta Sans"/>
              <a:ea typeface="Asta Sans"/>
              <a:cs typeface="Asta Sans"/>
              <a:sym typeface="Asta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sta Sans"/>
              <a:ea typeface="Asta Sans"/>
              <a:cs typeface="Asta Sans"/>
              <a:sym typeface="Asta Sans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sta Sans"/>
              <a:buChar char="●"/>
            </a:pPr>
            <a:r>
              <a:rPr lang="ko-KR">
                <a:latin typeface="Asta Sans"/>
                <a:ea typeface="Asta Sans"/>
                <a:cs typeface="Asta Sans"/>
                <a:sym typeface="Asta Sans"/>
              </a:rPr>
              <a:t>Refactor</a:t>
            </a:r>
            <a:endParaRPr>
              <a:latin typeface="Asta Sans"/>
              <a:ea typeface="Asta Sans"/>
              <a:cs typeface="Asta Sans"/>
              <a:sym typeface="Asta Sans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sta Sans"/>
              <a:buChar char="○"/>
            </a:pPr>
            <a:r>
              <a:rPr lang="ko-KR">
                <a:latin typeface="Asta Sans"/>
                <a:ea typeface="Asta Sans"/>
                <a:cs typeface="Asta Sans"/>
                <a:sym typeface="Asta Sans"/>
              </a:rPr>
              <a:t>Green 이후 필수로 Refactor 하지는 않는다</a:t>
            </a:r>
            <a:endParaRPr>
              <a:latin typeface="Asta Sans"/>
              <a:ea typeface="Asta Sans"/>
              <a:cs typeface="Asta Sans"/>
              <a:sym typeface="Asta Sans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sta Sans"/>
              <a:buChar char="○"/>
            </a:pPr>
            <a:r>
              <a:rPr lang="ko-KR">
                <a:latin typeface="Asta Sans"/>
                <a:ea typeface="Asta Sans"/>
                <a:cs typeface="Asta Sans"/>
                <a:sym typeface="Asta Sans"/>
              </a:rPr>
              <a:t>Module 담당자들이 Code Smell 을 확인하면 Refactor</a:t>
            </a:r>
            <a:endParaRPr>
              <a:latin typeface="Asta Sans"/>
              <a:ea typeface="Asta Sans"/>
              <a:cs typeface="Asta Sans"/>
              <a:sym typeface="Asta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f44738b4e9_5_1"/>
          <p:cNvSpPr txBox="1">
            <a:spLocks noGrp="1"/>
          </p:cNvSpPr>
          <p:nvPr>
            <p:ph type="title"/>
          </p:nvPr>
        </p:nvSpPr>
        <p:spPr>
          <a:xfrm>
            <a:off x="605980" y="310143"/>
            <a:ext cx="10515600" cy="6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ko-KR" sz="3200" b="1">
                <a:latin typeface="Asta Sans"/>
                <a:ea typeface="Asta Sans"/>
                <a:cs typeface="Asta Sans"/>
                <a:sym typeface="Asta Sans"/>
              </a:rPr>
              <a:t> TDD 방식</a:t>
            </a:r>
            <a:endParaRPr b="1">
              <a:latin typeface="Asta Sans"/>
              <a:ea typeface="Asta Sans"/>
              <a:cs typeface="Asta Sans"/>
              <a:sym typeface="Asta Sans"/>
            </a:endParaRPr>
          </a:p>
        </p:txBody>
      </p:sp>
      <p:sp>
        <p:nvSpPr>
          <p:cNvPr id="66" name="Google Shape;66;g3f44738b4e9_5_1"/>
          <p:cNvSpPr txBox="1">
            <a:spLocks noGrp="1"/>
          </p:cNvSpPr>
          <p:nvPr>
            <p:ph type="body" idx="1"/>
          </p:nvPr>
        </p:nvSpPr>
        <p:spPr>
          <a:xfrm>
            <a:off x="605975" y="1316375"/>
            <a:ext cx="10515600" cy="54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sta Sans"/>
              <a:buChar char="●"/>
            </a:pPr>
            <a:r>
              <a:rPr lang="ko-KR">
                <a:latin typeface="Asta Sans"/>
                <a:ea typeface="Asta Sans"/>
                <a:cs typeface="Asta Sans"/>
                <a:sym typeface="Asta Sans"/>
              </a:rPr>
              <a:t>Assembler Unit</a:t>
            </a:r>
            <a:endParaRPr>
              <a:latin typeface="Asta Sans"/>
              <a:ea typeface="Asta Sans"/>
              <a:cs typeface="Asta Sans"/>
              <a:sym typeface="Asta Sans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sta Sans"/>
              <a:buChar char="○"/>
            </a:pPr>
            <a:r>
              <a:rPr lang="ko-KR">
                <a:latin typeface="Asta Sans"/>
                <a:ea typeface="Asta Sans"/>
                <a:cs typeface="Asta Sans"/>
                <a:sym typeface="Asta Sans"/>
              </a:rPr>
              <a:t>Red: 박진용 님  / Green: 권교혁 님</a:t>
            </a:r>
            <a:endParaRPr>
              <a:latin typeface="Asta Sans"/>
              <a:ea typeface="Asta Sans"/>
              <a:cs typeface="Asta Sans"/>
              <a:sym typeface="Asta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sta Sans"/>
              <a:ea typeface="Asta Sans"/>
              <a:cs typeface="Asta Sans"/>
              <a:sym typeface="Asta Sans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sta Sans"/>
              <a:buChar char="●"/>
            </a:pPr>
            <a:r>
              <a:rPr lang="ko-KR">
                <a:latin typeface="Asta Sans"/>
                <a:ea typeface="Asta Sans"/>
                <a:cs typeface="Asta Sans"/>
                <a:sym typeface="Asta Sans"/>
              </a:rPr>
              <a:t>Checker Unit</a:t>
            </a:r>
            <a:endParaRPr>
              <a:latin typeface="Asta Sans"/>
              <a:ea typeface="Asta Sans"/>
              <a:cs typeface="Asta Sans"/>
              <a:sym typeface="Asta Sans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sta Sans"/>
              <a:buChar char="○"/>
            </a:pPr>
            <a:r>
              <a:rPr lang="ko-KR">
                <a:latin typeface="Asta Sans"/>
                <a:ea typeface="Asta Sans"/>
                <a:cs typeface="Asta Sans"/>
                <a:sym typeface="Asta Sans"/>
              </a:rPr>
              <a:t>Red: 이호영 님  / Green: 홍성제 님</a:t>
            </a:r>
            <a:endParaRPr>
              <a:latin typeface="Asta Sans"/>
              <a:ea typeface="Asta Sans"/>
              <a:cs typeface="Asta Sans"/>
              <a:sym typeface="Asta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sta Sans"/>
              <a:ea typeface="Asta Sans"/>
              <a:cs typeface="Asta Sans"/>
              <a:sym typeface="Asta Sans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sta Sans"/>
              <a:buChar char="●"/>
            </a:pPr>
            <a:r>
              <a:rPr lang="ko-KR">
                <a:latin typeface="Asta Sans"/>
                <a:ea typeface="Asta Sans"/>
                <a:cs typeface="Asta Sans"/>
                <a:sym typeface="Asta Sans"/>
              </a:rPr>
              <a:t>Executor Unit</a:t>
            </a:r>
            <a:endParaRPr>
              <a:latin typeface="Asta Sans"/>
              <a:ea typeface="Asta Sans"/>
              <a:cs typeface="Asta Sans"/>
              <a:sym typeface="Asta Sans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sta Sans"/>
              <a:buChar char="○"/>
            </a:pPr>
            <a:r>
              <a:rPr lang="ko-KR">
                <a:latin typeface="Asta Sans"/>
                <a:ea typeface="Asta Sans"/>
                <a:cs typeface="Asta Sans"/>
                <a:sym typeface="Asta Sans"/>
              </a:rPr>
              <a:t>Red: 홍성제 님  / Green: 류종훈 님 </a:t>
            </a:r>
            <a:endParaRPr>
              <a:latin typeface="Asta Sans"/>
              <a:ea typeface="Asta Sans"/>
              <a:cs typeface="Asta Sans"/>
              <a:sym typeface="Asta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f44738b4e9_5_7"/>
          <p:cNvSpPr txBox="1">
            <a:spLocks noGrp="1"/>
          </p:cNvSpPr>
          <p:nvPr>
            <p:ph type="title"/>
          </p:nvPr>
        </p:nvSpPr>
        <p:spPr>
          <a:xfrm>
            <a:off x="605980" y="310143"/>
            <a:ext cx="10515600" cy="6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ko-KR" sz="3200" b="1">
                <a:latin typeface="Asta Sans"/>
                <a:ea typeface="Asta Sans"/>
                <a:cs typeface="Asta Sans"/>
                <a:sym typeface="Asta Sans"/>
              </a:rPr>
              <a:t> 기능 추가 미션 (Workflow)</a:t>
            </a:r>
            <a:endParaRPr b="1">
              <a:latin typeface="Asta Sans"/>
              <a:ea typeface="Asta Sans"/>
              <a:cs typeface="Asta Sans"/>
              <a:sym typeface="Asta Sans"/>
            </a:endParaRPr>
          </a:p>
        </p:txBody>
      </p:sp>
      <p:sp>
        <p:nvSpPr>
          <p:cNvPr id="72" name="Google Shape;72;g3f44738b4e9_5_7"/>
          <p:cNvSpPr txBox="1">
            <a:spLocks noGrp="1"/>
          </p:cNvSpPr>
          <p:nvPr>
            <p:ph type="body" idx="1"/>
          </p:nvPr>
        </p:nvSpPr>
        <p:spPr>
          <a:xfrm>
            <a:off x="605980" y="1316376"/>
            <a:ext cx="10515600" cy="492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sta Sans"/>
              <a:buChar char="●"/>
            </a:pPr>
            <a:r>
              <a:rPr lang="ko-KR">
                <a:latin typeface="Asta Sans"/>
                <a:ea typeface="Asta Sans"/>
                <a:cs typeface="Asta Sans"/>
                <a:sym typeface="Asta Sans"/>
              </a:rPr>
              <a:t>사전 작업</a:t>
            </a:r>
            <a:endParaRPr>
              <a:latin typeface="Asta Sans"/>
              <a:ea typeface="Asta Sans"/>
              <a:cs typeface="Asta Sans"/>
              <a:sym typeface="Asta Sans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sta Sans"/>
              <a:buChar char="○"/>
            </a:pPr>
            <a:r>
              <a:rPr lang="ko-KR">
                <a:latin typeface="Asta Sans"/>
                <a:ea typeface="Asta Sans"/>
                <a:cs typeface="Asta Sans"/>
                <a:sym typeface="Asta Sans"/>
              </a:rPr>
              <a:t>병렬 작업 시 Conflict를 최소화 하기 위함이다</a:t>
            </a:r>
            <a:endParaRPr>
              <a:latin typeface="Asta Sans"/>
              <a:ea typeface="Asta Sans"/>
              <a:cs typeface="Asta Sans"/>
              <a:sym typeface="Asta Sans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sta Sans"/>
              <a:buChar char="○"/>
            </a:pPr>
            <a:r>
              <a:rPr lang="ko-KR">
                <a:latin typeface="Asta Sans"/>
                <a:ea typeface="Asta Sans"/>
                <a:cs typeface="Asta Sans"/>
                <a:sym typeface="Asta Sans"/>
              </a:rPr>
              <a:t>ex) md 파일추가, 파일 구조 정리, 확장성을 위한 Refactor</a:t>
            </a:r>
            <a:endParaRPr>
              <a:latin typeface="Asta Sans"/>
              <a:ea typeface="Asta Sans"/>
              <a:cs typeface="Asta Sans"/>
              <a:sym typeface="Asta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sta Sans"/>
              <a:ea typeface="Asta Sans"/>
              <a:cs typeface="Asta Sans"/>
              <a:sym typeface="Asta Sans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sta Sans"/>
              <a:buChar char="●"/>
            </a:pPr>
            <a:r>
              <a:rPr lang="ko-KR">
                <a:latin typeface="Asta Sans"/>
                <a:ea typeface="Asta Sans"/>
                <a:cs typeface="Asta Sans"/>
                <a:sym typeface="Asta Sans"/>
              </a:rPr>
              <a:t>기능 구현 및 Test</a:t>
            </a:r>
            <a:endParaRPr>
              <a:latin typeface="Asta Sans"/>
              <a:ea typeface="Asta Sans"/>
              <a:cs typeface="Asta Sans"/>
              <a:sym typeface="Asta Sans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sta Sans"/>
              <a:buChar char="○"/>
            </a:pPr>
            <a:r>
              <a:rPr lang="ko-KR">
                <a:latin typeface="Asta Sans"/>
                <a:ea typeface="Asta Sans"/>
                <a:cs typeface="Asta Sans"/>
                <a:sym typeface="Asta Sans"/>
              </a:rPr>
              <a:t>기능별 담당자를 나눠서 각각 구현한다</a:t>
            </a:r>
            <a:endParaRPr>
              <a:latin typeface="Asta Sans"/>
              <a:ea typeface="Asta Sans"/>
              <a:cs typeface="Asta Sans"/>
              <a:sym typeface="Asta Sans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sta Sans"/>
              <a:buChar char="○"/>
            </a:pPr>
            <a:r>
              <a:rPr lang="ko-KR">
                <a:latin typeface="Asta Sans"/>
                <a:ea typeface="Asta Sans"/>
                <a:cs typeface="Asta Sans"/>
                <a:sym typeface="Asta Sans"/>
              </a:rPr>
              <a:t>지정된 리뷰어가 PR을 리뷰한다</a:t>
            </a:r>
            <a:endParaRPr>
              <a:latin typeface="Asta Sans"/>
              <a:ea typeface="Asta Sans"/>
              <a:cs typeface="Asta Sans"/>
              <a:sym typeface="Asta Sa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sta Sans"/>
              <a:ea typeface="Asta Sans"/>
              <a:cs typeface="Asta Sans"/>
              <a:sym typeface="Asta Sans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sta Sans"/>
              <a:buChar char="●"/>
            </a:pPr>
            <a:r>
              <a:rPr lang="ko-KR">
                <a:latin typeface="Asta Sans"/>
                <a:ea typeface="Asta Sans"/>
                <a:cs typeface="Asta Sans"/>
                <a:sym typeface="Asta Sans"/>
              </a:rPr>
              <a:t>Refactor</a:t>
            </a:r>
            <a:endParaRPr>
              <a:latin typeface="Asta Sans"/>
              <a:ea typeface="Asta Sans"/>
              <a:cs typeface="Asta Sans"/>
              <a:sym typeface="Asta Sans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sta Sans"/>
              <a:buChar char="○"/>
            </a:pPr>
            <a:r>
              <a:rPr lang="ko-KR">
                <a:latin typeface="Asta Sans"/>
                <a:ea typeface="Asta Sans"/>
                <a:cs typeface="Asta Sans"/>
                <a:sym typeface="Asta Sans"/>
              </a:rPr>
              <a:t>완성된 코드로 다같이 Refactoring을 수행한다</a:t>
            </a:r>
            <a:endParaRPr>
              <a:latin typeface="Asta Sans"/>
              <a:ea typeface="Asta Sans"/>
              <a:cs typeface="Asta Sans"/>
              <a:sym typeface="Asta Sans"/>
            </a:endParaRPr>
          </a:p>
        </p:txBody>
      </p:sp>
      <p:sp>
        <p:nvSpPr>
          <p:cNvPr id="73" name="Google Shape;73;g3f44738b4e9_5_7"/>
          <p:cNvSpPr/>
          <p:nvPr/>
        </p:nvSpPr>
        <p:spPr>
          <a:xfrm>
            <a:off x="8776873" y="2032883"/>
            <a:ext cx="1844100" cy="797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Asta Sans"/>
                <a:ea typeface="Asta Sans"/>
                <a:cs typeface="Asta Sans"/>
                <a:sym typeface="Asta Sans"/>
              </a:rPr>
              <a:t>사전 작업</a:t>
            </a:r>
            <a:endParaRPr sz="1800">
              <a:latin typeface="Asta Sans"/>
              <a:ea typeface="Asta Sans"/>
              <a:cs typeface="Asta Sans"/>
              <a:sym typeface="Asta Sans"/>
            </a:endParaRPr>
          </a:p>
        </p:txBody>
      </p:sp>
      <p:sp>
        <p:nvSpPr>
          <p:cNvPr id="74" name="Google Shape;74;g3f44738b4e9_5_7"/>
          <p:cNvSpPr/>
          <p:nvPr/>
        </p:nvSpPr>
        <p:spPr>
          <a:xfrm>
            <a:off x="7336473" y="3516486"/>
            <a:ext cx="657900" cy="8871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latin typeface="Asta Sans"/>
                <a:ea typeface="Asta Sans"/>
                <a:cs typeface="Asta Sans"/>
                <a:sym typeface="Asta Sans"/>
              </a:rPr>
              <a:t>구현</a:t>
            </a:r>
            <a:br>
              <a:rPr lang="ko-KR">
                <a:latin typeface="Asta Sans"/>
                <a:ea typeface="Asta Sans"/>
                <a:cs typeface="Asta Sans"/>
                <a:sym typeface="Asta Sans"/>
              </a:rPr>
            </a:br>
            <a:r>
              <a:rPr lang="ko-KR">
                <a:latin typeface="Asta Sans"/>
                <a:ea typeface="Asta Sans"/>
                <a:cs typeface="Asta Sans"/>
                <a:sym typeface="Asta Sans"/>
              </a:rPr>
              <a:t>#1</a:t>
            </a:r>
            <a:endParaRPr>
              <a:latin typeface="Asta Sans"/>
              <a:ea typeface="Asta Sans"/>
              <a:cs typeface="Asta Sans"/>
              <a:sym typeface="Asta Sans"/>
            </a:endParaRPr>
          </a:p>
        </p:txBody>
      </p:sp>
      <p:sp>
        <p:nvSpPr>
          <p:cNvPr id="75" name="Google Shape;75;g3f44738b4e9_5_7"/>
          <p:cNvSpPr/>
          <p:nvPr/>
        </p:nvSpPr>
        <p:spPr>
          <a:xfrm>
            <a:off x="8353223" y="3516486"/>
            <a:ext cx="657900" cy="8871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chemeClr val="dk1"/>
                </a:solidFill>
                <a:latin typeface="Asta Sans"/>
                <a:ea typeface="Asta Sans"/>
                <a:cs typeface="Asta Sans"/>
                <a:sym typeface="Asta Sans"/>
              </a:rPr>
              <a:t>구현</a:t>
            </a:r>
            <a:br>
              <a:rPr lang="ko-KR">
                <a:solidFill>
                  <a:schemeClr val="dk1"/>
                </a:solidFill>
                <a:latin typeface="Asta Sans"/>
                <a:ea typeface="Asta Sans"/>
                <a:cs typeface="Asta Sans"/>
                <a:sym typeface="Asta Sans"/>
              </a:rPr>
            </a:br>
            <a:r>
              <a:rPr lang="ko-KR">
                <a:solidFill>
                  <a:schemeClr val="dk1"/>
                </a:solidFill>
                <a:latin typeface="Asta Sans"/>
                <a:ea typeface="Asta Sans"/>
                <a:cs typeface="Asta Sans"/>
                <a:sym typeface="Asta Sans"/>
              </a:rPr>
              <a:t>#2</a:t>
            </a:r>
            <a:endParaRPr>
              <a:latin typeface="Asta Sans"/>
              <a:ea typeface="Asta Sans"/>
              <a:cs typeface="Asta Sans"/>
              <a:sym typeface="Asta Sans"/>
            </a:endParaRPr>
          </a:p>
        </p:txBody>
      </p:sp>
      <p:sp>
        <p:nvSpPr>
          <p:cNvPr id="76" name="Google Shape;76;g3f44738b4e9_5_7"/>
          <p:cNvSpPr/>
          <p:nvPr/>
        </p:nvSpPr>
        <p:spPr>
          <a:xfrm>
            <a:off x="9369973" y="3516486"/>
            <a:ext cx="657900" cy="8871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chemeClr val="dk1"/>
                </a:solidFill>
                <a:latin typeface="Asta Sans"/>
                <a:ea typeface="Asta Sans"/>
                <a:cs typeface="Asta Sans"/>
                <a:sym typeface="Asta Sans"/>
              </a:rPr>
              <a:t>구현</a:t>
            </a:r>
            <a:br>
              <a:rPr lang="ko-KR">
                <a:solidFill>
                  <a:schemeClr val="dk1"/>
                </a:solidFill>
                <a:latin typeface="Asta Sans"/>
                <a:ea typeface="Asta Sans"/>
                <a:cs typeface="Asta Sans"/>
                <a:sym typeface="Asta Sans"/>
              </a:rPr>
            </a:br>
            <a:r>
              <a:rPr lang="ko-KR">
                <a:solidFill>
                  <a:schemeClr val="dk1"/>
                </a:solidFill>
                <a:latin typeface="Asta Sans"/>
                <a:ea typeface="Asta Sans"/>
                <a:cs typeface="Asta Sans"/>
                <a:sym typeface="Asta Sans"/>
              </a:rPr>
              <a:t>#3</a:t>
            </a:r>
            <a:endParaRPr>
              <a:latin typeface="Asta Sans"/>
              <a:ea typeface="Asta Sans"/>
              <a:cs typeface="Asta Sans"/>
              <a:sym typeface="Asta Sans"/>
            </a:endParaRPr>
          </a:p>
        </p:txBody>
      </p:sp>
      <p:sp>
        <p:nvSpPr>
          <p:cNvPr id="77" name="Google Shape;77;g3f44738b4e9_5_7"/>
          <p:cNvSpPr/>
          <p:nvPr/>
        </p:nvSpPr>
        <p:spPr>
          <a:xfrm>
            <a:off x="10361798" y="3516486"/>
            <a:ext cx="657900" cy="8871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chemeClr val="dk1"/>
                </a:solidFill>
                <a:latin typeface="Asta Sans"/>
                <a:ea typeface="Asta Sans"/>
                <a:cs typeface="Asta Sans"/>
                <a:sym typeface="Asta Sans"/>
              </a:rPr>
              <a:t>구현</a:t>
            </a:r>
            <a:br>
              <a:rPr lang="ko-KR">
                <a:solidFill>
                  <a:schemeClr val="dk1"/>
                </a:solidFill>
                <a:latin typeface="Asta Sans"/>
                <a:ea typeface="Asta Sans"/>
                <a:cs typeface="Asta Sans"/>
                <a:sym typeface="Asta Sans"/>
              </a:rPr>
            </a:br>
            <a:r>
              <a:rPr lang="ko-KR">
                <a:solidFill>
                  <a:schemeClr val="dk1"/>
                </a:solidFill>
                <a:latin typeface="Asta Sans"/>
                <a:ea typeface="Asta Sans"/>
                <a:cs typeface="Asta Sans"/>
                <a:sym typeface="Asta Sans"/>
              </a:rPr>
              <a:t>#4</a:t>
            </a:r>
            <a:endParaRPr>
              <a:latin typeface="Asta Sans"/>
              <a:ea typeface="Asta Sans"/>
              <a:cs typeface="Asta Sans"/>
              <a:sym typeface="Asta Sans"/>
            </a:endParaRPr>
          </a:p>
        </p:txBody>
      </p:sp>
      <p:sp>
        <p:nvSpPr>
          <p:cNvPr id="78" name="Google Shape;78;g3f44738b4e9_5_7"/>
          <p:cNvSpPr/>
          <p:nvPr/>
        </p:nvSpPr>
        <p:spPr>
          <a:xfrm>
            <a:off x="11353623" y="3516486"/>
            <a:ext cx="657900" cy="8871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chemeClr val="dk1"/>
                </a:solidFill>
                <a:latin typeface="Asta Sans"/>
                <a:ea typeface="Asta Sans"/>
                <a:cs typeface="Asta Sans"/>
                <a:sym typeface="Asta Sans"/>
              </a:rPr>
              <a:t>구현</a:t>
            </a:r>
            <a:br>
              <a:rPr lang="ko-KR">
                <a:solidFill>
                  <a:schemeClr val="dk1"/>
                </a:solidFill>
                <a:latin typeface="Asta Sans"/>
                <a:ea typeface="Asta Sans"/>
                <a:cs typeface="Asta Sans"/>
                <a:sym typeface="Asta Sans"/>
              </a:rPr>
            </a:br>
            <a:r>
              <a:rPr lang="ko-KR">
                <a:solidFill>
                  <a:schemeClr val="dk1"/>
                </a:solidFill>
                <a:latin typeface="Asta Sans"/>
                <a:ea typeface="Asta Sans"/>
                <a:cs typeface="Asta Sans"/>
                <a:sym typeface="Asta Sans"/>
              </a:rPr>
              <a:t>#5</a:t>
            </a:r>
            <a:endParaRPr>
              <a:latin typeface="Asta Sans"/>
              <a:ea typeface="Asta Sans"/>
              <a:cs typeface="Asta Sans"/>
              <a:sym typeface="Asta Sans"/>
            </a:endParaRPr>
          </a:p>
        </p:txBody>
      </p:sp>
      <p:sp>
        <p:nvSpPr>
          <p:cNvPr id="79" name="Google Shape;79;g3f44738b4e9_5_7"/>
          <p:cNvSpPr/>
          <p:nvPr/>
        </p:nvSpPr>
        <p:spPr>
          <a:xfrm>
            <a:off x="8776873" y="4994608"/>
            <a:ext cx="1844100" cy="797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Asta Sans"/>
                <a:ea typeface="Asta Sans"/>
                <a:cs typeface="Asta Sans"/>
                <a:sym typeface="Asta Sans"/>
              </a:rPr>
              <a:t>Refactoring</a:t>
            </a:r>
            <a:endParaRPr sz="1800">
              <a:latin typeface="Asta Sans"/>
              <a:ea typeface="Asta Sans"/>
              <a:cs typeface="Asta Sans"/>
              <a:sym typeface="Asta Sans"/>
            </a:endParaRPr>
          </a:p>
        </p:txBody>
      </p:sp>
      <p:cxnSp>
        <p:nvCxnSpPr>
          <p:cNvPr id="80" name="Google Shape;80;g3f44738b4e9_5_7"/>
          <p:cNvCxnSpPr>
            <a:stCxn id="74" idx="0"/>
            <a:endCxn id="73" idx="2"/>
          </p:cNvCxnSpPr>
          <p:nvPr/>
        </p:nvCxnSpPr>
        <p:spPr>
          <a:xfrm rot="10800000" flipH="1">
            <a:off x="7665423" y="2830386"/>
            <a:ext cx="2033400" cy="686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1" name="Google Shape;81;g3f44738b4e9_5_7"/>
          <p:cNvCxnSpPr>
            <a:stCxn id="75" idx="0"/>
            <a:endCxn id="73" idx="2"/>
          </p:cNvCxnSpPr>
          <p:nvPr/>
        </p:nvCxnSpPr>
        <p:spPr>
          <a:xfrm rot="10800000" flipH="1">
            <a:off x="8682173" y="2830386"/>
            <a:ext cx="1016700" cy="686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2" name="Google Shape;82;g3f44738b4e9_5_7"/>
          <p:cNvCxnSpPr>
            <a:stCxn id="76" idx="0"/>
            <a:endCxn id="73" idx="2"/>
          </p:cNvCxnSpPr>
          <p:nvPr/>
        </p:nvCxnSpPr>
        <p:spPr>
          <a:xfrm rot="10800000">
            <a:off x="9698923" y="2830386"/>
            <a:ext cx="0" cy="686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3" name="Google Shape;83;g3f44738b4e9_5_7"/>
          <p:cNvCxnSpPr>
            <a:stCxn id="77" idx="0"/>
            <a:endCxn id="73" idx="2"/>
          </p:cNvCxnSpPr>
          <p:nvPr/>
        </p:nvCxnSpPr>
        <p:spPr>
          <a:xfrm rot="10800000">
            <a:off x="9698948" y="2830386"/>
            <a:ext cx="991800" cy="686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4" name="Google Shape;84;g3f44738b4e9_5_7"/>
          <p:cNvCxnSpPr>
            <a:stCxn id="78" idx="0"/>
            <a:endCxn id="73" idx="2"/>
          </p:cNvCxnSpPr>
          <p:nvPr/>
        </p:nvCxnSpPr>
        <p:spPr>
          <a:xfrm rot="10800000">
            <a:off x="9698973" y="2830386"/>
            <a:ext cx="1983600" cy="686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5" name="Google Shape;85;g3f44738b4e9_5_7"/>
          <p:cNvCxnSpPr>
            <a:stCxn id="74" idx="2"/>
            <a:endCxn id="79" idx="0"/>
          </p:cNvCxnSpPr>
          <p:nvPr/>
        </p:nvCxnSpPr>
        <p:spPr>
          <a:xfrm>
            <a:off x="7665423" y="4403586"/>
            <a:ext cx="2033400" cy="591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6" name="Google Shape;86;g3f44738b4e9_5_7"/>
          <p:cNvCxnSpPr>
            <a:stCxn id="75" idx="2"/>
            <a:endCxn id="79" idx="0"/>
          </p:cNvCxnSpPr>
          <p:nvPr/>
        </p:nvCxnSpPr>
        <p:spPr>
          <a:xfrm>
            <a:off x="8682173" y="4403586"/>
            <a:ext cx="1016700" cy="591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7" name="Google Shape;87;g3f44738b4e9_5_7"/>
          <p:cNvCxnSpPr>
            <a:stCxn id="76" idx="2"/>
            <a:endCxn id="79" idx="0"/>
          </p:cNvCxnSpPr>
          <p:nvPr/>
        </p:nvCxnSpPr>
        <p:spPr>
          <a:xfrm>
            <a:off x="9698923" y="4403586"/>
            <a:ext cx="0" cy="591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" name="Google Shape;88;g3f44738b4e9_5_7"/>
          <p:cNvCxnSpPr>
            <a:stCxn id="77" idx="2"/>
            <a:endCxn id="79" idx="0"/>
          </p:cNvCxnSpPr>
          <p:nvPr/>
        </p:nvCxnSpPr>
        <p:spPr>
          <a:xfrm flipH="1">
            <a:off x="9698948" y="4403586"/>
            <a:ext cx="991800" cy="591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9" name="Google Shape;89;g3f44738b4e9_5_7"/>
          <p:cNvCxnSpPr>
            <a:stCxn id="78" idx="2"/>
            <a:endCxn id="79" idx="0"/>
          </p:cNvCxnSpPr>
          <p:nvPr/>
        </p:nvCxnSpPr>
        <p:spPr>
          <a:xfrm flipH="1">
            <a:off x="9698973" y="4403586"/>
            <a:ext cx="1983600" cy="591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0" name="Google Shape;90;g3f44738b4e9_5_7"/>
          <p:cNvCxnSpPr>
            <a:endCxn id="73" idx="0"/>
          </p:cNvCxnSpPr>
          <p:nvPr/>
        </p:nvCxnSpPr>
        <p:spPr>
          <a:xfrm flipH="1">
            <a:off x="9698923" y="1575083"/>
            <a:ext cx="9900" cy="45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1" name="Google Shape;91;g3f44738b4e9_5_7"/>
          <p:cNvCxnSpPr/>
          <p:nvPr/>
        </p:nvCxnSpPr>
        <p:spPr>
          <a:xfrm flipH="1">
            <a:off x="9698948" y="5792008"/>
            <a:ext cx="9900" cy="45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2" name="Google Shape;92;g3f44738b4e9_5_7"/>
          <p:cNvSpPr txBox="1"/>
          <p:nvPr/>
        </p:nvSpPr>
        <p:spPr>
          <a:xfrm>
            <a:off x="8198923" y="1174750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Asta Sans"/>
                <a:ea typeface="Asta Sans"/>
                <a:cs typeface="Asta Sans"/>
                <a:sym typeface="Asta Sans"/>
              </a:rPr>
              <a:t>기능 추가 요구 사항</a:t>
            </a:r>
            <a:endParaRPr sz="1800">
              <a:solidFill>
                <a:schemeClr val="dk1"/>
              </a:solidFill>
              <a:latin typeface="Asta Sans"/>
              <a:ea typeface="Asta Sans"/>
              <a:cs typeface="Asta Sans"/>
              <a:sym typeface="Asta Sans"/>
            </a:endParaRPr>
          </a:p>
        </p:txBody>
      </p:sp>
      <p:sp>
        <p:nvSpPr>
          <p:cNvPr id="93" name="Google Shape;93;g3f44738b4e9_5_7"/>
          <p:cNvSpPr txBox="1"/>
          <p:nvPr/>
        </p:nvSpPr>
        <p:spPr>
          <a:xfrm>
            <a:off x="8198923" y="6201313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Asta Sans"/>
                <a:ea typeface="Asta Sans"/>
                <a:cs typeface="Asta Sans"/>
                <a:sym typeface="Asta Sans"/>
              </a:rPr>
              <a:t>산출물</a:t>
            </a:r>
            <a:endParaRPr sz="1800">
              <a:solidFill>
                <a:schemeClr val="dk1"/>
              </a:solidFill>
              <a:latin typeface="Asta Sans"/>
              <a:ea typeface="Asta Sans"/>
              <a:cs typeface="Asta Sans"/>
              <a:sym typeface="Asta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f44738b4e9_5_45"/>
          <p:cNvSpPr txBox="1">
            <a:spLocks noGrp="1"/>
          </p:cNvSpPr>
          <p:nvPr>
            <p:ph type="title"/>
          </p:nvPr>
        </p:nvSpPr>
        <p:spPr>
          <a:xfrm>
            <a:off x="605980" y="310143"/>
            <a:ext cx="10515600" cy="6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ko-KR" sz="3200" b="1">
                <a:latin typeface="Asta Sans"/>
                <a:ea typeface="Asta Sans"/>
                <a:cs typeface="Asta Sans"/>
                <a:sym typeface="Asta Sans"/>
              </a:rPr>
              <a:t> 기능 추가 미션</a:t>
            </a:r>
            <a:endParaRPr b="1">
              <a:latin typeface="Asta Sans"/>
              <a:ea typeface="Asta Sans"/>
              <a:cs typeface="Asta Sans"/>
              <a:sym typeface="Asta Sans"/>
            </a:endParaRPr>
          </a:p>
        </p:txBody>
      </p:sp>
      <p:sp>
        <p:nvSpPr>
          <p:cNvPr id="99" name="Google Shape;99;g3f44738b4e9_5_45"/>
          <p:cNvSpPr txBox="1">
            <a:spLocks noGrp="1"/>
          </p:cNvSpPr>
          <p:nvPr>
            <p:ph type="body" idx="1"/>
          </p:nvPr>
        </p:nvSpPr>
        <p:spPr>
          <a:xfrm>
            <a:off x="605980" y="1316376"/>
            <a:ext cx="10515600" cy="492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sta Sans"/>
              <a:buChar char="●"/>
            </a:pPr>
            <a:r>
              <a:rPr lang="ko-KR">
                <a:latin typeface="Asta Sans"/>
                <a:ea typeface="Asta Sans"/>
                <a:cs typeface="Asta Sans"/>
                <a:sym typeface="Asta Sans"/>
              </a:rPr>
              <a:t>박진용 님</a:t>
            </a:r>
            <a:endParaRPr>
              <a:latin typeface="Asta Sans"/>
              <a:ea typeface="Asta Sans"/>
              <a:cs typeface="Asta Sans"/>
              <a:sym typeface="Asta Sans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sta Sans"/>
              <a:buChar char="○"/>
            </a:pPr>
            <a:r>
              <a:rPr lang="ko-KR">
                <a:latin typeface="Asta Sans"/>
                <a:ea typeface="Asta Sans"/>
                <a:cs typeface="Asta Sans"/>
                <a:sym typeface="Asta Sans"/>
              </a:rPr>
              <a:t>Git Setup, Class 기능추가</a:t>
            </a:r>
            <a:endParaRPr>
              <a:latin typeface="Asta Sans"/>
              <a:ea typeface="Asta Sans"/>
              <a:cs typeface="Asta Sans"/>
              <a:sym typeface="Asta Sans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sta Sans"/>
              <a:buChar char="●"/>
            </a:pPr>
            <a:r>
              <a:rPr lang="ko-KR">
                <a:latin typeface="Asta Sans"/>
                <a:ea typeface="Asta Sans"/>
                <a:cs typeface="Asta Sans"/>
                <a:sym typeface="Asta Sans"/>
              </a:rPr>
              <a:t>홍성제 님</a:t>
            </a:r>
            <a:endParaRPr>
              <a:latin typeface="Asta Sans"/>
              <a:ea typeface="Asta Sans"/>
              <a:cs typeface="Asta Sans"/>
              <a:sym typeface="Asta Sans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sta Sans"/>
              <a:buChar char="○"/>
            </a:pPr>
            <a:r>
              <a:rPr lang="ko-KR">
                <a:latin typeface="Asta Sans"/>
                <a:ea typeface="Asta Sans"/>
                <a:cs typeface="Asta Sans"/>
                <a:sym typeface="Asta Sans"/>
              </a:rPr>
              <a:t>사전작업 리팩토링, 정적배열 기능추가</a:t>
            </a:r>
            <a:endParaRPr>
              <a:latin typeface="Asta Sans"/>
              <a:ea typeface="Asta Sans"/>
              <a:cs typeface="Asta Sans"/>
              <a:sym typeface="Asta Sans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sta Sans"/>
              <a:buChar char="●"/>
            </a:pPr>
            <a:r>
              <a:rPr lang="ko-KR">
                <a:latin typeface="Asta Sans"/>
                <a:ea typeface="Asta Sans"/>
                <a:cs typeface="Asta Sans"/>
                <a:sym typeface="Asta Sans"/>
              </a:rPr>
              <a:t>이호영 님</a:t>
            </a:r>
            <a:endParaRPr>
              <a:latin typeface="Asta Sans"/>
              <a:ea typeface="Asta Sans"/>
              <a:cs typeface="Asta Sans"/>
              <a:sym typeface="Asta Sans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sta Sans"/>
              <a:buChar char="○"/>
            </a:pPr>
            <a:r>
              <a:rPr lang="ko-KR">
                <a:latin typeface="Asta Sans"/>
                <a:ea typeface="Asta Sans"/>
                <a:cs typeface="Asta Sans"/>
                <a:sym typeface="Asta Sans"/>
              </a:rPr>
              <a:t>사전작업 구조설계, function 기능추가</a:t>
            </a:r>
            <a:endParaRPr>
              <a:latin typeface="Asta Sans"/>
              <a:ea typeface="Asta Sans"/>
              <a:cs typeface="Asta Sans"/>
              <a:sym typeface="Asta Sans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sta Sans"/>
              <a:buChar char="●"/>
            </a:pPr>
            <a:r>
              <a:rPr lang="ko-KR">
                <a:latin typeface="Asta Sans"/>
                <a:ea typeface="Asta Sans"/>
                <a:cs typeface="Asta Sans"/>
                <a:sym typeface="Asta Sans"/>
              </a:rPr>
              <a:t>류종훈 님</a:t>
            </a:r>
            <a:endParaRPr>
              <a:latin typeface="Asta Sans"/>
              <a:ea typeface="Asta Sans"/>
              <a:cs typeface="Asta Sans"/>
              <a:sym typeface="Asta Sans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sta Sans"/>
              <a:buChar char="○"/>
            </a:pPr>
            <a:r>
              <a:rPr lang="ko-KR">
                <a:latin typeface="Asta Sans"/>
                <a:ea typeface="Asta Sans"/>
                <a:cs typeface="Asta Sans"/>
                <a:sym typeface="Asta Sans"/>
              </a:rPr>
              <a:t>import 기능추가, integration test</a:t>
            </a:r>
            <a:endParaRPr>
              <a:latin typeface="Asta Sans"/>
              <a:ea typeface="Asta Sans"/>
              <a:cs typeface="Asta Sans"/>
              <a:sym typeface="Asta Sans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sta Sans"/>
              <a:buChar char="●"/>
            </a:pPr>
            <a:r>
              <a:rPr lang="ko-KR">
                <a:latin typeface="Asta Sans"/>
                <a:ea typeface="Asta Sans"/>
                <a:cs typeface="Asta Sans"/>
                <a:sym typeface="Asta Sans"/>
              </a:rPr>
              <a:t>권교혁 님</a:t>
            </a:r>
            <a:endParaRPr>
              <a:latin typeface="Asta Sans"/>
              <a:ea typeface="Asta Sans"/>
              <a:cs typeface="Asta Sans"/>
              <a:sym typeface="Asta Sans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sta Sans"/>
              <a:buChar char="○"/>
            </a:pPr>
            <a:r>
              <a:rPr lang="ko-KR">
                <a:latin typeface="Asta Sans"/>
                <a:ea typeface="Asta Sans"/>
                <a:cs typeface="Asta Sans"/>
                <a:sym typeface="Asta Sans"/>
              </a:rPr>
              <a:t>실행전 최적화 기능추가, 공장제어 쉘제작 기능추가, integration test</a:t>
            </a:r>
            <a:endParaRPr>
              <a:latin typeface="Asta Sans"/>
              <a:ea typeface="Asta Sans"/>
              <a:cs typeface="Asta Sans"/>
              <a:sym typeface="Asta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f44738b4e9_6_0"/>
          <p:cNvSpPr txBox="1">
            <a:spLocks noGrp="1"/>
          </p:cNvSpPr>
          <p:nvPr>
            <p:ph type="body" idx="1"/>
          </p:nvPr>
        </p:nvSpPr>
        <p:spPr>
          <a:xfrm>
            <a:off x="1632000" y="1860184"/>
            <a:ext cx="8928000" cy="253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ko-KR" sz="4000">
                <a:latin typeface="Asta Sans"/>
                <a:ea typeface="Asta Sans"/>
                <a:cs typeface="Asta Sans"/>
                <a:sym typeface="Asta Sans"/>
              </a:rPr>
              <a:t>기능 구현 소개</a:t>
            </a:r>
            <a:endParaRPr sz="4000">
              <a:latin typeface="Asta Sans"/>
              <a:ea typeface="Asta Sans"/>
              <a:cs typeface="Asta Sans"/>
              <a:sym typeface="Asta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f4729efffc_2_75"/>
          <p:cNvSpPr txBox="1">
            <a:spLocks noGrp="1"/>
          </p:cNvSpPr>
          <p:nvPr>
            <p:ph type="title"/>
          </p:nvPr>
        </p:nvSpPr>
        <p:spPr>
          <a:xfrm>
            <a:off x="605980" y="310143"/>
            <a:ext cx="10515600" cy="6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ko-KR" sz="3200" b="1">
                <a:latin typeface="Asta Sans"/>
                <a:ea typeface="Asta Sans"/>
                <a:cs typeface="Asta Sans"/>
                <a:sym typeface="Asta Sans"/>
              </a:rPr>
              <a:t> 구조 설계</a:t>
            </a:r>
            <a:endParaRPr b="1">
              <a:latin typeface="Asta Sans"/>
              <a:ea typeface="Asta Sans"/>
              <a:cs typeface="Asta Sans"/>
              <a:sym typeface="Asta Sans"/>
            </a:endParaRPr>
          </a:p>
        </p:txBody>
      </p:sp>
      <p:sp>
        <p:nvSpPr>
          <p:cNvPr id="110" name="Google Shape;110;g3f4729efffc_2_75"/>
          <p:cNvSpPr txBox="1">
            <a:spLocks noGrp="1"/>
          </p:cNvSpPr>
          <p:nvPr>
            <p:ph type="body" idx="1"/>
          </p:nvPr>
        </p:nvSpPr>
        <p:spPr>
          <a:xfrm>
            <a:off x="605975" y="1316375"/>
            <a:ext cx="11481300" cy="53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sta Sans"/>
              <a:buChar char="●"/>
            </a:pPr>
            <a:r>
              <a:rPr lang="ko-KR">
                <a:latin typeface="Asta Sans"/>
                <a:ea typeface="Asta Sans"/>
                <a:cs typeface="Asta Sans"/>
                <a:sym typeface="Asta Sans"/>
              </a:rPr>
              <a:t>Single Responsibility Principle (SRP) </a:t>
            </a:r>
            <a:endParaRPr>
              <a:latin typeface="Asta Sans"/>
              <a:ea typeface="Asta Sans"/>
              <a:cs typeface="Asta Sans"/>
              <a:sym typeface="Asta Sans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sta Sans"/>
              <a:buChar char="○"/>
            </a:pPr>
            <a:r>
              <a:rPr lang="ko-KR">
                <a:latin typeface="Asta Sans"/>
                <a:ea typeface="Asta Sans"/>
                <a:cs typeface="Asta Sans"/>
                <a:sym typeface="Asta Sans"/>
              </a:rPr>
              <a:t>각각의 책임을 갖는 5개 모듈로 캡슐화 </a:t>
            </a:r>
            <a:endParaRPr>
              <a:latin typeface="Asta Sans"/>
              <a:ea typeface="Asta Sans"/>
              <a:cs typeface="Asta Sans"/>
              <a:sym typeface="Asta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sta Sans"/>
              <a:ea typeface="Asta Sans"/>
              <a:cs typeface="Asta Sans"/>
              <a:sym typeface="Asta Sans"/>
            </a:endParaRPr>
          </a:p>
        </p:txBody>
      </p:sp>
      <p:sp>
        <p:nvSpPr>
          <p:cNvPr id="111" name="Google Shape;111;g3f4729efffc_2_75"/>
          <p:cNvSpPr/>
          <p:nvPr/>
        </p:nvSpPr>
        <p:spPr>
          <a:xfrm>
            <a:off x="3202845" y="2876460"/>
            <a:ext cx="1402200" cy="991200"/>
          </a:xfrm>
          <a:prstGeom prst="rect">
            <a:avLst/>
          </a:prstGeom>
          <a:solidFill>
            <a:schemeClr val="lt2"/>
          </a:solidFill>
          <a:ln w="86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2450" tIns="82450" rIns="82450" bIns="824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3">
                <a:latin typeface="Asta Sans"/>
                <a:ea typeface="Asta Sans"/>
                <a:cs typeface="Asta Sans"/>
                <a:sym typeface="Asta Sans"/>
              </a:rPr>
              <a:t>Assembler</a:t>
            </a:r>
            <a:endParaRPr sz="1803">
              <a:latin typeface="Asta Sans"/>
              <a:ea typeface="Asta Sans"/>
              <a:cs typeface="Asta Sans"/>
              <a:sym typeface="Asta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3">
                <a:latin typeface="Asta Sans"/>
                <a:ea typeface="Asta Sans"/>
                <a:cs typeface="Asta Sans"/>
                <a:sym typeface="Asta Sans"/>
              </a:rPr>
              <a:t>Unit</a:t>
            </a:r>
            <a:endParaRPr sz="1803">
              <a:latin typeface="Asta Sans"/>
              <a:ea typeface="Asta Sans"/>
              <a:cs typeface="Asta Sans"/>
              <a:sym typeface="Asta Sans"/>
            </a:endParaRPr>
          </a:p>
        </p:txBody>
      </p:sp>
      <p:sp>
        <p:nvSpPr>
          <p:cNvPr id="112" name="Google Shape;112;g3f4729efffc_2_75"/>
          <p:cNvSpPr/>
          <p:nvPr/>
        </p:nvSpPr>
        <p:spPr>
          <a:xfrm>
            <a:off x="5349495" y="4527389"/>
            <a:ext cx="1402200" cy="991200"/>
          </a:xfrm>
          <a:prstGeom prst="rect">
            <a:avLst/>
          </a:prstGeom>
          <a:solidFill>
            <a:schemeClr val="lt2"/>
          </a:solidFill>
          <a:ln w="86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2450" tIns="82450" rIns="82450" bIns="824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3">
                <a:latin typeface="Asta Sans"/>
                <a:ea typeface="Asta Sans"/>
                <a:cs typeface="Asta Sans"/>
                <a:sym typeface="Asta Sans"/>
              </a:rPr>
              <a:t>Checker</a:t>
            </a:r>
            <a:endParaRPr sz="1803">
              <a:latin typeface="Asta Sans"/>
              <a:ea typeface="Asta Sans"/>
              <a:cs typeface="Asta Sans"/>
              <a:sym typeface="Asta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3">
                <a:latin typeface="Asta Sans"/>
                <a:ea typeface="Asta Sans"/>
                <a:cs typeface="Asta Sans"/>
                <a:sym typeface="Asta Sans"/>
              </a:rPr>
              <a:t>Unit</a:t>
            </a:r>
            <a:endParaRPr sz="1803">
              <a:latin typeface="Asta Sans"/>
              <a:ea typeface="Asta Sans"/>
              <a:cs typeface="Asta Sans"/>
              <a:sym typeface="Asta Sans"/>
            </a:endParaRPr>
          </a:p>
        </p:txBody>
      </p:sp>
      <p:sp>
        <p:nvSpPr>
          <p:cNvPr id="113" name="Google Shape;113;g3f4729efffc_2_75"/>
          <p:cNvSpPr/>
          <p:nvPr/>
        </p:nvSpPr>
        <p:spPr>
          <a:xfrm>
            <a:off x="7304417" y="4527389"/>
            <a:ext cx="1402200" cy="991200"/>
          </a:xfrm>
          <a:prstGeom prst="rect">
            <a:avLst/>
          </a:prstGeom>
          <a:solidFill>
            <a:schemeClr val="lt2"/>
          </a:solidFill>
          <a:ln w="86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2450" tIns="82450" rIns="82450" bIns="824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3">
                <a:latin typeface="Malgun Gothic"/>
                <a:ea typeface="Malgun Gothic"/>
                <a:cs typeface="Malgun Gothic"/>
                <a:sym typeface="Malgun Gothic"/>
              </a:rPr>
              <a:t>Executor</a:t>
            </a:r>
            <a:endParaRPr sz="1803"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3">
                <a:latin typeface="Malgun Gothic"/>
                <a:ea typeface="Malgun Gothic"/>
                <a:cs typeface="Malgun Gothic"/>
                <a:sym typeface="Malgun Gothic"/>
              </a:rPr>
              <a:t>Unit</a:t>
            </a:r>
            <a:endParaRPr sz="1803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4" name="Google Shape;114;g3f4729efffc_2_75"/>
          <p:cNvSpPr txBox="1"/>
          <p:nvPr/>
        </p:nvSpPr>
        <p:spPr>
          <a:xfrm>
            <a:off x="5333133" y="2934800"/>
            <a:ext cx="1619700" cy="87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450" tIns="82450" rIns="82450" bIns="82450" anchor="t" anchorCtr="0">
            <a:spAutoFit/>
          </a:bodyPr>
          <a:lstStyle/>
          <a:p>
            <a:pPr marL="137423" marR="137423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33" b="1">
                <a:solidFill>
                  <a:srgbClr val="1F2328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Program </a:t>
            </a:r>
            <a:r>
              <a:rPr lang="ko-KR" sz="1533">
                <a:solidFill>
                  <a:srgbClr val="1F2328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(Expr/Stmt tree)</a:t>
            </a:r>
            <a:endParaRPr sz="1533">
              <a:solidFill>
                <a:srgbClr val="1F2328"/>
              </a:solidFill>
              <a:highlight>
                <a:srgbClr val="F6F8FA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115" name="Google Shape;115;g3f4729efffc_2_75"/>
          <p:cNvCxnSpPr/>
          <p:nvPr/>
        </p:nvCxnSpPr>
        <p:spPr>
          <a:xfrm>
            <a:off x="6823648" y="3372022"/>
            <a:ext cx="498300" cy="0"/>
          </a:xfrm>
          <a:prstGeom prst="straightConnector1">
            <a:avLst/>
          </a:prstGeom>
          <a:noFill/>
          <a:ln w="171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6" name="Google Shape;116;g3f4729efffc_2_75"/>
          <p:cNvSpPr txBox="1"/>
          <p:nvPr/>
        </p:nvSpPr>
        <p:spPr>
          <a:xfrm>
            <a:off x="1249260" y="3142299"/>
            <a:ext cx="1442100" cy="6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450" tIns="82450" rIns="82450" bIns="82450" anchor="t" anchorCtr="0">
            <a:spAutoFit/>
          </a:bodyPr>
          <a:lstStyle/>
          <a:p>
            <a:pPr marL="137423" marR="137423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33" b="1">
                <a:solidFill>
                  <a:srgbClr val="1F2328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input</a:t>
            </a:r>
            <a:endParaRPr sz="1533" b="1">
              <a:solidFill>
                <a:srgbClr val="1F2328"/>
              </a:solidFill>
              <a:highlight>
                <a:srgbClr val="F6F8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137423" marR="137423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33">
                <a:solidFill>
                  <a:srgbClr val="1F2328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(string)</a:t>
            </a:r>
            <a:endParaRPr sz="1533">
              <a:solidFill>
                <a:srgbClr val="1F2328"/>
              </a:solidFill>
              <a:highlight>
                <a:srgbClr val="F6F8FA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7" name="Google Shape;117;g3f4729efffc_2_75"/>
          <p:cNvSpPr txBox="1"/>
          <p:nvPr/>
        </p:nvSpPr>
        <p:spPr>
          <a:xfrm>
            <a:off x="9108445" y="4681391"/>
            <a:ext cx="1442100" cy="6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450" tIns="82450" rIns="82450" bIns="82450" anchor="t" anchorCtr="0">
            <a:spAutoFit/>
          </a:bodyPr>
          <a:lstStyle/>
          <a:p>
            <a:pPr marL="137423" marR="137423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33" b="1">
                <a:solidFill>
                  <a:srgbClr val="1F2328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output</a:t>
            </a:r>
            <a:endParaRPr sz="1533" b="1">
              <a:solidFill>
                <a:srgbClr val="1F2328"/>
              </a:solidFill>
              <a:highlight>
                <a:srgbClr val="F6F8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137423" marR="137423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33">
                <a:solidFill>
                  <a:srgbClr val="1F2328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(string)</a:t>
            </a:r>
            <a:endParaRPr sz="1533">
              <a:solidFill>
                <a:srgbClr val="1F2328"/>
              </a:solidFill>
              <a:highlight>
                <a:srgbClr val="F6F8FA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8" name="Google Shape;118;g3f4729efffc_2_75"/>
          <p:cNvSpPr txBox="1"/>
          <p:nvPr/>
        </p:nvSpPr>
        <p:spPr>
          <a:xfrm>
            <a:off x="7184300" y="5862902"/>
            <a:ext cx="2035200" cy="6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450" tIns="82450" rIns="82450" bIns="82450" anchor="t" anchorCtr="0">
            <a:spAutoFit/>
          </a:bodyPr>
          <a:lstStyle/>
          <a:p>
            <a:pPr marL="137423" marR="137423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33" b="1">
                <a:solidFill>
                  <a:srgbClr val="1F2328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runtime_error</a:t>
            </a:r>
            <a:endParaRPr sz="1533" b="1">
              <a:solidFill>
                <a:srgbClr val="1F2328"/>
              </a:solidFill>
              <a:highlight>
                <a:srgbClr val="F6F8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137423" marR="137423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33">
                <a:solidFill>
                  <a:srgbClr val="1F2328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(exception)</a:t>
            </a:r>
            <a:endParaRPr sz="1533">
              <a:solidFill>
                <a:srgbClr val="1F2328"/>
              </a:solidFill>
              <a:highlight>
                <a:srgbClr val="F6F8FA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9" name="Google Shape;119;g3f4729efffc_2_75"/>
          <p:cNvSpPr txBox="1"/>
          <p:nvPr/>
        </p:nvSpPr>
        <p:spPr>
          <a:xfrm>
            <a:off x="5329610" y="5862894"/>
            <a:ext cx="1866900" cy="6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450" tIns="82450" rIns="82450" bIns="82450" anchor="t" anchorCtr="0">
            <a:spAutoFit/>
          </a:bodyPr>
          <a:lstStyle/>
          <a:p>
            <a:pPr marL="137423" marR="137423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33" b="1">
                <a:solidFill>
                  <a:srgbClr val="1F2328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static_error</a:t>
            </a:r>
            <a:endParaRPr sz="1533" b="1">
              <a:solidFill>
                <a:srgbClr val="1F2328"/>
              </a:solidFill>
              <a:highlight>
                <a:srgbClr val="F6F8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137423" marR="137423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33">
                <a:solidFill>
                  <a:srgbClr val="1F2328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(exception)</a:t>
            </a:r>
            <a:endParaRPr sz="1533">
              <a:solidFill>
                <a:srgbClr val="1F2328"/>
              </a:solidFill>
              <a:highlight>
                <a:srgbClr val="F6F8FA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120" name="Google Shape;120;g3f4729efffc_2_75"/>
          <p:cNvCxnSpPr/>
          <p:nvPr/>
        </p:nvCxnSpPr>
        <p:spPr>
          <a:xfrm>
            <a:off x="10270234" y="3780697"/>
            <a:ext cx="0" cy="310200"/>
          </a:xfrm>
          <a:prstGeom prst="straightConnector1">
            <a:avLst/>
          </a:prstGeom>
          <a:noFill/>
          <a:ln w="171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1" name="Google Shape;121;g3f4729efffc_2_75"/>
          <p:cNvCxnSpPr/>
          <p:nvPr/>
        </p:nvCxnSpPr>
        <p:spPr>
          <a:xfrm rot="10800000">
            <a:off x="6055975" y="4110997"/>
            <a:ext cx="4217400" cy="0"/>
          </a:xfrm>
          <a:prstGeom prst="straightConnector1">
            <a:avLst/>
          </a:prstGeom>
          <a:noFill/>
          <a:ln w="171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2" name="Google Shape;122;g3f4729efffc_2_75"/>
          <p:cNvCxnSpPr/>
          <p:nvPr/>
        </p:nvCxnSpPr>
        <p:spPr>
          <a:xfrm>
            <a:off x="6056225" y="4122478"/>
            <a:ext cx="0" cy="351600"/>
          </a:xfrm>
          <a:prstGeom prst="straightConnector1">
            <a:avLst/>
          </a:prstGeom>
          <a:noFill/>
          <a:ln w="171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3" name="Google Shape;123;g3f4729efffc_2_75"/>
          <p:cNvCxnSpPr/>
          <p:nvPr/>
        </p:nvCxnSpPr>
        <p:spPr>
          <a:xfrm>
            <a:off x="8005525" y="4110996"/>
            <a:ext cx="0" cy="356100"/>
          </a:xfrm>
          <a:prstGeom prst="straightConnector1">
            <a:avLst/>
          </a:prstGeom>
          <a:noFill/>
          <a:ln w="171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4" name="Google Shape;124;g3f4729efffc_2_75"/>
          <p:cNvCxnSpPr/>
          <p:nvPr/>
        </p:nvCxnSpPr>
        <p:spPr>
          <a:xfrm>
            <a:off x="6056225" y="5604121"/>
            <a:ext cx="0" cy="310200"/>
          </a:xfrm>
          <a:prstGeom prst="straightConnector1">
            <a:avLst/>
          </a:prstGeom>
          <a:noFill/>
          <a:ln w="171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5" name="Google Shape;125;g3f4729efffc_2_75"/>
          <p:cNvCxnSpPr/>
          <p:nvPr/>
        </p:nvCxnSpPr>
        <p:spPr>
          <a:xfrm>
            <a:off x="8055050" y="5604121"/>
            <a:ext cx="0" cy="310200"/>
          </a:xfrm>
          <a:prstGeom prst="straightConnector1">
            <a:avLst/>
          </a:prstGeom>
          <a:noFill/>
          <a:ln w="171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6" name="Google Shape;126;g3f4729efffc_2_75"/>
          <p:cNvCxnSpPr/>
          <p:nvPr/>
        </p:nvCxnSpPr>
        <p:spPr>
          <a:xfrm>
            <a:off x="8791304" y="5000617"/>
            <a:ext cx="428400" cy="0"/>
          </a:xfrm>
          <a:prstGeom prst="straightConnector1">
            <a:avLst/>
          </a:prstGeom>
          <a:noFill/>
          <a:ln w="171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7" name="Google Shape;127;g3f4729efffc_2_75"/>
          <p:cNvCxnSpPr/>
          <p:nvPr/>
        </p:nvCxnSpPr>
        <p:spPr>
          <a:xfrm>
            <a:off x="2453214" y="3372022"/>
            <a:ext cx="498300" cy="0"/>
          </a:xfrm>
          <a:prstGeom prst="straightConnector1">
            <a:avLst/>
          </a:prstGeom>
          <a:noFill/>
          <a:ln w="171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8" name="Google Shape;128;g3f4729efffc_2_75"/>
          <p:cNvSpPr/>
          <p:nvPr/>
        </p:nvSpPr>
        <p:spPr>
          <a:xfrm>
            <a:off x="7409474" y="2876460"/>
            <a:ext cx="1402200" cy="991200"/>
          </a:xfrm>
          <a:prstGeom prst="rect">
            <a:avLst/>
          </a:prstGeom>
          <a:solidFill>
            <a:schemeClr val="lt2"/>
          </a:solidFill>
          <a:ln w="86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2450" tIns="82450" rIns="82450" bIns="824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3">
                <a:latin typeface="Asta Sans"/>
                <a:ea typeface="Asta Sans"/>
                <a:cs typeface="Asta Sans"/>
                <a:sym typeface="Asta Sans"/>
              </a:rPr>
              <a:t>Constant</a:t>
            </a:r>
            <a:endParaRPr sz="1803">
              <a:latin typeface="Asta Sans"/>
              <a:ea typeface="Asta Sans"/>
              <a:cs typeface="Asta Sans"/>
              <a:sym typeface="Asta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3">
                <a:latin typeface="Asta Sans"/>
                <a:ea typeface="Asta Sans"/>
                <a:cs typeface="Asta Sans"/>
                <a:sym typeface="Asta Sans"/>
              </a:rPr>
              <a:t>Folder</a:t>
            </a:r>
            <a:endParaRPr sz="1803">
              <a:latin typeface="Asta Sans"/>
              <a:ea typeface="Asta Sans"/>
              <a:cs typeface="Asta Sans"/>
              <a:sym typeface="Asta Sans"/>
            </a:endParaRPr>
          </a:p>
        </p:txBody>
      </p:sp>
      <p:sp>
        <p:nvSpPr>
          <p:cNvPr id="129" name="Google Shape;129;g3f4729efffc_2_75"/>
          <p:cNvSpPr/>
          <p:nvPr/>
        </p:nvSpPr>
        <p:spPr>
          <a:xfrm>
            <a:off x="9540545" y="2876460"/>
            <a:ext cx="1402200" cy="991200"/>
          </a:xfrm>
          <a:prstGeom prst="rect">
            <a:avLst/>
          </a:prstGeom>
          <a:solidFill>
            <a:schemeClr val="lt2"/>
          </a:solidFill>
          <a:ln w="86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2450" tIns="82450" rIns="82450" bIns="824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3">
                <a:latin typeface="Asta Sans"/>
                <a:ea typeface="Asta Sans"/>
                <a:cs typeface="Asta Sans"/>
                <a:sym typeface="Asta Sans"/>
              </a:rPr>
              <a:t>Resolver</a:t>
            </a:r>
            <a:endParaRPr sz="1803">
              <a:latin typeface="Asta Sans"/>
              <a:ea typeface="Asta Sans"/>
              <a:cs typeface="Asta Sans"/>
              <a:sym typeface="Asta Sans"/>
            </a:endParaRPr>
          </a:p>
        </p:txBody>
      </p:sp>
      <p:cxnSp>
        <p:nvCxnSpPr>
          <p:cNvPr id="130" name="Google Shape;130;g3f4729efffc_2_75"/>
          <p:cNvCxnSpPr/>
          <p:nvPr/>
        </p:nvCxnSpPr>
        <p:spPr>
          <a:xfrm>
            <a:off x="8899189" y="3372022"/>
            <a:ext cx="498300" cy="0"/>
          </a:xfrm>
          <a:prstGeom prst="straightConnector1">
            <a:avLst/>
          </a:prstGeom>
          <a:noFill/>
          <a:ln w="171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1" name="Google Shape;131;g3f4729efffc_2_75"/>
          <p:cNvCxnSpPr/>
          <p:nvPr/>
        </p:nvCxnSpPr>
        <p:spPr>
          <a:xfrm>
            <a:off x="4847295" y="3372022"/>
            <a:ext cx="498300" cy="0"/>
          </a:xfrm>
          <a:prstGeom prst="straightConnector1">
            <a:avLst/>
          </a:prstGeom>
          <a:noFill/>
          <a:ln w="171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g3f4729efffc_2_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81247" y="3948325"/>
            <a:ext cx="7186176" cy="283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g3f4729efffc_2_101"/>
          <p:cNvSpPr txBox="1">
            <a:spLocks noGrp="1"/>
          </p:cNvSpPr>
          <p:nvPr>
            <p:ph type="title"/>
          </p:nvPr>
        </p:nvSpPr>
        <p:spPr>
          <a:xfrm>
            <a:off x="605980" y="310143"/>
            <a:ext cx="10515600" cy="6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ko-KR" sz="3200" b="1">
                <a:latin typeface="Asta Sans"/>
                <a:ea typeface="Asta Sans"/>
                <a:cs typeface="Asta Sans"/>
                <a:sym typeface="Asta Sans"/>
              </a:rPr>
              <a:t> 구조 설계</a:t>
            </a:r>
            <a:endParaRPr b="1">
              <a:latin typeface="Asta Sans"/>
              <a:ea typeface="Asta Sans"/>
              <a:cs typeface="Asta Sans"/>
              <a:sym typeface="Asta Sans"/>
            </a:endParaRPr>
          </a:p>
        </p:txBody>
      </p:sp>
      <p:sp>
        <p:nvSpPr>
          <p:cNvPr id="138" name="Google Shape;138;g3f4729efffc_2_101"/>
          <p:cNvSpPr txBox="1">
            <a:spLocks noGrp="1"/>
          </p:cNvSpPr>
          <p:nvPr>
            <p:ph type="body" idx="1"/>
          </p:nvPr>
        </p:nvSpPr>
        <p:spPr>
          <a:xfrm>
            <a:off x="605975" y="1316375"/>
            <a:ext cx="11481300" cy="53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sta Sans"/>
              <a:buChar char="●"/>
            </a:pPr>
            <a:r>
              <a:rPr lang="ko-KR">
                <a:latin typeface="Asta Sans"/>
                <a:ea typeface="Asta Sans"/>
                <a:cs typeface="Asta Sans"/>
                <a:sym typeface="Asta Sans"/>
              </a:rPr>
              <a:t>Assembler Unit</a:t>
            </a:r>
            <a:endParaRPr>
              <a:latin typeface="Asta Sans"/>
              <a:ea typeface="Asta Sans"/>
              <a:cs typeface="Asta Sans"/>
              <a:sym typeface="Asta Sans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sta Sans"/>
              <a:buChar char="○"/>
            </a:pPr>
            <a:r>
              <a:rPr lang="ko-KR">
                <a:latin typeface="Asta Sans"/>
                <a:ea typeface="Asta Sans"/>
                <a:cs typeface="Asta Sans"/>
                <a:sym typeface="Asta Sans"/>
              </a:rPr>
              <a:t>Token화, Stmt/Expr 트리 생성</a:t>
            </a:r>
            <a:endParaRPr>
              <a:latin typeface="Asta Sans"/>
              <a:ea typeface="Asta Sans"/>
              <a:cs typeface="Asta Sans"/>
              <a:sym typeface="Asta Sans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sta Sans"/>
              <a:buChar char="●"/>
            </a:pPr>
            <a:r>
              <a:rPr lang="ko-KR">
                <a:latin typeface="Asta Sans"/>
                <a:ea typeface="Asta Sans"/>
                <a:cs typeface="Asta Sans"/>
                <a:sym typeface="Asta Sans"/>
              </a:rPr>
              <a:t>Constant Folder</a:t>
            </a:r>
            <a:endParaRPr>
              <a:latin typeface="Asta Sans"/>
              <a:ea typeface="Asta Sans"/>
              <a:cs typeface="Asta Sans"/>
              <a:sym typeface="Asta Sans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sta Sans"/>
              <a:buChar char="○"/>
            </a:pPr>
            <a:r>
              <a:rPr lang="ko-KR">
                <a:latin typeface="Asta Sans"/>
                <a:ea typeface="Asta Sans"/>
                <a:cs typeface="Asta Sans"/>
                <a:sym typeface="Asta Sans"/>
              </a:rPr>
              <a:t>리터럴 상수 폴딩 (최적화)</a:t>
            </a:r>
            <a:endParaRPr>
              <a:latin typeface="Asta Sans"/>
              <a:ea typeface="Asta Sans"/>
              <a:cs typeface="Asta Sans"/>
              <a:sym typeface="Asta Sans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sta Sans"/>
              <a:buChar char="●"/>
            </a:pPr>
            <a:r>
              <a:rPr lang="ko-KR">
                <a:latin typeface="Asta Sans"/>
                <a:ea typeface="Asta Sans"/>
                <a:cs typeface="Asta Sans"/>
                <a:sym typeface="Asta Sans"/>
              </a:rPr>
              <a:t>Resolver</a:t>
            </a:r>
            <a:endParaRPr>
              <a:latin typeface="Asta Sans"/>
              <a:ea typeface="Asta Sans"/>
              <a:cs typeface="Asta Sans"/>
              <a:sym typeface="Asta Sans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sta Sans"/>
              <a:buChar char="○"/>
            </a:pPr>
            <a:r>
              <a:rPr lang="ko-KR">
                <a:latin typeface="Asta Sans"/>
                <a:ea typeface="Asta Sans"/>
                <a:cs typeface="Asta Sans"/>
                <a:sym typeface="Asta Sans"/>
              </a:rPr>
              <a:t>distance 정적 바인딩 (최적화)</a:t>
            </a:r>
            <a:endParaRPr>
              <a:latin typeface="Asta Sans"/>
              <a:ea typeface="Asta Sans"/>
              <a:cs typeface="Asta Sans"/>
              <a:sym typeface="Asta Sans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sta Sans"/>
              <a:buChar char="●"/>
            </a:pPr>
            <a:r>
              <a:rPr lang="ko-KR">
                <a:latin typeface="Asta Sans"/>
                <a:ea typeface="Asta Sans"/>
                <a:cs typeface="Asta Sans"/>
                <a:sym typeface="Asta Sans"/>
              </a:rPr>
              <a:t>Checker Unit</a:t>
            </a:r>
            <a:endParaRPr>
              <a:latin typeface="Asta Sans"/>
              <a:ea typeface="Asta Sans"/>
              <a:cs typeface="Asta Sans"/>
              <a:sym typeface="Asta Sans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sta Sans"/>
              <a:buChar char="○"/>
            </a:pPr>
            <a:r>
              <a:rPr lang="ko-KR">
                <a:latin typeface="Asta Sans"/>
                <a:ea typeface="Asta Sans"/>
                <a:cs typeface="Asta Sans"/>
                <a:sym typeface="Asta Sans"/>
              </a:rPr>
              <a:t>Tree 순회 -&gt; 정적에러 확인</a:t>
            </a:r>
            <a:endParaRPr>
              <a:latin typeface="Asta Sans"/>
              <a:ea typeface="Asta Sans"/>
              <a:cs typeface="Asta Sans"/>
              <a:sym typeface="Asta Sans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sta Sans"/>
              <a:buChar char="●"/>
            </a:pPr>
            <a:r>
              <a:rPr lang="ko-KR">
                <a:latin typeface="Asta Sans"/>
                <a:ea typeface="Asta Sans"/>
                <a:cs typeface="Asta Sans"/>
                <a:sym typeface="Asta Sans"/>
              </a:rPr>
              <a:t>Executor Unit</a:t>
            </a:r>
            <a:endParaRPr>
              <a:latin typeface="Asta Sans"/>
              <a:ea typeface="Asta Sans"/>
              <a:cs typeface="Asta Sans"/>
              <a:sym typeface="Asta Sans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sta Sans"/>
              <a:buChar char="○"/>
            </a:pPr>
            <a:r>
              <a:rPr lang="ko-KR">
                <a:latin typeface="Asta Sans"/>
                <a:ea typeface="Asta Sans"/>
                <a:cs typeface="Asta Sans"/>
                <a:sym typeface="Asta Sans"/>
              </a:rPr>
              <a:t>Tree 순회 -&gt; 동적에러 확인 / 실행</a:t>
            </a:r>
            <a:endParaRPr>
              <a:latin typeface="Asta Sans"/>
              <a:ea typeface="Asta Sans"/>
              <a:cs typeface="Asta Sans"/>
              <a:sym typeface="Asta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sta Sans"/>
              <a:ea typeface="Asta Sans"/>
              <a:cs typeface="Asta Sans"/>
              <a:sym typeface="Asta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f4729efffc_2_206"/>
          <p:cNvSpPr txBox="1">
            <a:spLocks noGrp="1"/>
          </p:cNvSpPr>
          <p:nvPr>
            <p:ph type="body" idx="1"/>
          </p:nvPr>
        </p:nvSpPr>
        <p:spPr>
          <a:xfrm>
            <a:off x="605975" y="1316375"/>
            <a:ext cx="11481300" cy="53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sta Sans"/>
              <a:buChar char="●"/>
            </a:pPr>
            <a:r>
              <a:rPr lang="ko-KR">
                <a:latin typeface="Asta Sans"/>
                <a:ea typeface="Asta Sans"/>
                <a:cs typeface="Asta Sans"/>
                <a:sym typeface="Asta Sans"/>
              </a:rPr>
              <a:t>Facade Pattern</a:t>
            </a:r>
            <a:endParaRPr>
              <a:latin typeface="Asta Sans"/>
              <a:ea typeface="Asta Sans"/>
              <a:cs typeface="Asta Sans"/>
              <a:sym typeface="Asta Sans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sta Sans"/>
              <a:buChar char="○"/>
            </a:pPr>
            <a:r>
              <a:rPr lang="ko-KR">
                <a:latin typeface="Asta Sans"/>
                <a:ea typeface="Asta Sans"/>
                <a:cs typeface="Asta Sans"/>
                <a:sym typeface="Asta Sans"/>
              </a:rPr>
              <a:t>Client가 모듈들을 모른 채로 사용할 수 있도록, Interpreter Class가 호출의 책임을 갖도록 함</a:t>
            </a:r>
            <a:endParaRPr>
              <a:latin typeface="Asta Sans"/>
              <a:ea typeface="Asta Sans"/>
              <a:cs typeface="Asta Sans"/>
              <a:sym typeface="Asta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sta Sans"/>
              <a:ea typeface="Asta Sans"/>
              <a:cs typeface="Asta Sans"/>
              <a:sym typeface="Asta Sans"/>
            </a:endParaRPr>
          </a:p>
        </p:txBody>
      </p:sp>
      <p:sp>
        <p:nvSpPr>
          <p:cNvPr id="144" name="Google Shape;144;g3f4729efffc_2_206"/>
          <p:cNvSpPr txBox="1">
            <a:spLocks noGrp="1"/>
          </p:cNvSpPr>
          <p:nvPr>
            <p:ph type="title"/>
          </p:nvPr>
        </p:nvSpPr>
        <p:spPr>
          <a:xfrm>
            <a:off x="605980" y="310143"/>
            <a:ext cx="10515600" cy="6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ko-KR" sz="3200" b="1">
                <a:latin typeface="Asta Sans"/>
                <a:ea typeface="Asta Sans"/>
                <a:cs typeface="Asta Sans"/>
                <a:sym typeface="Asta Sans"/>
              </a:rPr>
              <a:t> 인터페이스 설계</a:t>
            </a:r>
            <a:endParaRPr b="1">
              <a:latin typeface="Asta Sans"/>
              <a:ea typeface="Asta Sans"/>
              <a:cs typeface="Asta Sans"/>
              <a:sym typeface="Asta Sans"/>
            </a:endParaRPr>
          </a:p>
        </p:txBody>
      </p:sp>
      <p:sp>
        <p:nvSpPr>
          <p:cNvPr id="145" name="Google Shape;145;g3f4729efffc_2_206"/>
          <p:cNvSpPr/>
          <p:nvPr/>
        </p:nvSpPr>
        <p:spPr>
          <a:xfrm>
            <a:off x="3202845" y="3072563"/>
            <a:ext cx="1402200" cy="991200"/>
          </a:xfrm>
          <a:prstGeom prst="rect">
            <a:avLst/>
          </a:prstGeom>
          <a:solidFill>
            <a:schemeClr val="lt2"/>
          </a:solidFill>
          <a:ln w="86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2450" tIns="82450" rIns="82450" bIns="824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3">
                <a:latin typeface="Asta Sans"/>
                <a:ea typeface="Asta Sans"/>
                <a:cs typeface="Asta Sans"/>
                <a:sym typeface="Asta Sans"/>
              </a:rPr>
              <a:t>Assembler</a:t>
            </a:r>
            <a:endParaRPr sz="1803">
              <a:latin typeface="Asta Sans"/>
              <a:ea typeface="Asta Sans"/>
              <a:cs typeface="Asta Sans"/>
              <a:sym typeface="Asta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3">
                <a:latin typeface="Asta Sans"/>
                <a:ea typeface="Asta Sans"/>
                <a:cs typeface="Asta Sans"/>
                <a:sym typeface="Asta Sans"/>
              </a:rPr>
              <a:t>Unit</a:t>
            </a:r>
            <a:endParaRPr sz="1803">
              <a:latin typeface="Asta Sans"/>
              <a:ea typeface="Asta Sans"/>
              <a:cs typeface="Asta Sans"/>
              <a:sym typeface="Asta Sans"/>
            </a:endParaRPr>
          </a:p>
        </p:txBody>
      </p:sp>
      <p:sp>
        <p:nvSpPr>
          <p:cNvPr id="146" name="Google Shape;146;g3f4729efffc_2_206"/>
          <p:cNvSpPr/>
          <p:nvPr/>
        </p:nvSpPr>
        <p:spPr>
          <a:xfrm>
            <a:off x="5349495" y="4723492"/>
            <a:ext cx="1402200" cy="991200"/>
          </a:xfrm>
          <a:prstGeom prst="rect">
            <a:avLst/>
          </a:prstGeom>
          <a:solidFill>
            <a:schemeClr val="lt2"/>
          </a:solidFill>
          <a:ln w="86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2450" tIns="82450" rIns="82450" bIns="824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3">
                <a:latin typeface="Asta Sans"/>
                <a:ea typeface="Asta Sans"/>
                <a:cs typeface="Asta Sans"/>
                <a:sym typeface="Asta Sans"/>
              </a:rPr>
              <a:t>Checker</a:t>
            </a:r>
            <a:endParaRPr sz="1803">
              <a:latin typeface="Asta Sans"/>
              <a:ea typeface="Asta Sans"/>
              <a:cs typeface="Asta Sans"/>
              <a:sym typeface="Asta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3">
                <a:latin typeface="Asta Sans"/>
                <a:ea typeface="Asta Sans"/>
                <a:cs typeface="Asta Sans"/>
                <a:sym typeface="Asta Sans"/>
              </a:rPr>
              <a:t>Unit</a:t>
            </a:r>
            <a:endParaRPr sz="1803">
              <a:latin typeface="Asta Sans"/>
              <a:ea typeface="Asta Sans"/>
              <a:cs typeface="Asta Sans"/>
              <a:sym typeface="Asta Sans"/>
            </a:endParaRPr>
          </a:p>
        </p:txBody>
      </p:sp>
      <p:sp>
        <p:nvSpPr>
          <p:cNvPr id="147" name="Google Shape;147;g3f4729efffc_2_206"/>
          <p:cNvSpPr/>
          <p:nvPr/>
        </p:nvSpPr>
        <p:spPr>
          <a:xfrm>
            <a:off x="7304417" y="4723492"/>
            <a:ext cx="1402200" cy="991200"/>
          </a:xfrm>
          <a:prstGeom prst="rect">
            <a:avLst/>
          </a:prstGeom>
          <a:solidFill>
            <a:schemeClr val="lt2"/>
          </a:solidFill>
          <a:ln w="86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2450" tIns="82450" rIns="82450" bIns="824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3">
                <a:latin typeface="Malgun Gothic"/>
                <a:ea typeface="Malgun Gothic"/>
                <a:cs typeface="Malgun Gothic"/>
                <a:sym typeface="Malgun Gothic"/>
              </a:rPr>
              <a:t>Executor</a:t>
            </a:r>
            <a:endParaRPr sz="1803"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3">
                <a:latin typeface="Malgun Gothic"/>
                <a:ea typeface="Malgun Gothic"/>
                <a:cs typeface="Malgun Gothic"/>
                <a:sym typeface="Malgun Gothic"/>
              </a:rPr>
              <a:t>Unit</a:t>
            </a:r>
            <a:endParaRPr sz="1803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8" name="Google Shape;148;g3f4729efffc_2_206"/>
          <p:cNvSpPr txBox="1"/>
          <p:nvPr/>
        </p:nvSpPr>
        <p:spPr>
          <a:xfrm>
            <a:off x="5329599" y="3130903"/>
            <a:ext cx="1669200" cy="87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450" tIns="82450" rIns="82450" bIns="82450" anchor="t" anchorCtr="0">
            <a:spAutoFit/>
          </a:bodyPr>
          <a:lstStyle/>
          <a:p>
            <a:pPr marL="137423" marR="137423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33" b="1">
                <a:solidFill>
                  <a:srgbClr val="1F2328"/>
                </a:solidFill>
                <a:latin typeface="Courier New"/>
                <a:ea typeface="Courier New"/>
                <a:cs typeface="Courier New"/>
                <a:sym typeface="Courier New"/>
              </a:rPr>
              <a:t>Program </a:t>
            </a:r>
            <a:r>
              <a:rPr lang="ko-KR" sz="1533">
                <a:solidFill>
                  <a:srgbClr val="1F2328"/>
                </a:solidFill>
                <a:latin typeface="Courier New"/>
                <a:ea typeface="Courier New"/>
                <a:cs typeface="Courier New"/>
                <a:sym typeface="Courier New"/>
              </a:rPr>
              <a:t>(Expr/Stmt tree)</a:t>
            </a:r>
            <a:endParaRPr sz="1533">
              <a:solidFill>
                <a:srgbClr val="1F2328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149" name="Google Shape;149;g3f4729efffc_2_206"/>
          <p:cNvCxnSpPr/>
          <p:nvPr/>
        </p:nvCxnSpPr>
        <p:spPr>
          <a:xfrm>
            <a:off x="6823648" y="3568125"/>
            <a:ext cx="498300" cy="0"/>
          </a:xfrm>
          <a:prstGeom prst="straightConnector1">
            <a:avLst/>
          </a:prstGeom>
          <a:noFill/>
          <a:ln w="171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0" name="Google Shape;150;g3f4729efffc_2_206"/>
          <p:cNvSpPr txBox="1"/>
          <p:nvPr/>
        </p:nvSpPr>
        <p:spPr>
          <a:xfrm>
            <a:off x="9108445" y="4877494"/>
            <a:ext cx="1442100" cy="6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450" tIns="82450" rIns="82450" bIns="82450" anchor="t" anchorCtr="0">
            <a:spAutoFit/>
          </a:bodyPr>
          <a:lstStyle/>
          <a:p>
            <a:pPr marL="137423" marR="137423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33" b="1">
                <a:solidFill>
                  <a:srgbClr val="1F2328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output</a:t>
            </a:r>
            <a:endParaRPr sz="1533" b="1">
              <a:solidFill>
                <a:srgbClr val="1F2328"/>
              </a:solidFill>
              <a:highlight>
                <a:srgbClr val="F6F8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137423" marR="137423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33">
                <a:solidFill>
                  <a:srgbClr val="1F2328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(string)</a:t>
            </a:r>
            <a:endParaRPr sz="1533">
              <a:solidFill>
                <a:srgbClr val="1F2328"/>
              </a:solidFill>
              <a:highlight>
                <a:srgbClr val="F6F8FA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1" name="Google Shape;151;g3f4729efffc_2_206"/>
          <p:cNvSpPr txBox="1"/>
          <p:nvPr/>
        </p:nvSpPr>
        <p:spPr>
          <a:xfrm>
            <a:off x="7184300" y="6059005"/>
            <a:ext cx="2035200" cy="6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450" tIns="82450" rIns="82450" bIns="82450" anchor="t" anchorCtr="0">
            <a:spAutoFit/>
          </a:bodyPr>
          <a:lstStyle/>
          <a:p>
            <a:pPr marL="137423" marR="137423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33" b="1">
                <a:solidFill>
                  <a:srgbClr val="1F2328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runtime_error</a:t>
            </a:r>
            <a:endParaRPr sz="1533" b="1">
              <a:solidFill>
                <a:srgbClr val="1F2328"/>
              </a:solidFill>
              <a:highlight>
                <a:srgbClr val="F6F8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137423" marR="137423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33">
                <a:solidFill>
                  <a:srgbClr val="1F2328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(exception)</a:t>
            </a:r>
            <a:endParaRPr sz="1533">
              <a:solidFill>
                <a:srgbClr val="1F2328"/>
              </a:solidFill>
              <a:highlight>
                <a:srgbClr val="F6F8FA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2" name="Google Shape;152;g3f4729efffc_2_206"/>
          <p:cNvSpPr txBox="1"/>
          <p:nvPr/>
        </p:nvSpPr>
        <p:spPr>
          <a:xfrm>
            <a:off x="5329610" y="6058997"/>
            <a:ext cx="1866900" cy="6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450" tIns="82450" rIns="82450" bIns="82450" anchor="t" anchorCtr="0">
            <a:spAutoFit/>
          </a:bodyPr>
          <a:lstStyle/>
          <a:p>
            <a:pPr marL="137423" marR="137423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33" b="1">
                <a:solidFill>
                  <a:srgbClr val="1F2328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static_error</a:t>
            </a:r>
            <a:endParaRPr sz="1533" b="1">
              <a:solidFill>
                <a:srgbClr val="1F2328"/>
              </a:solidFill>
              <a:highlight>
                <a:srgbClr val="F6F8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137423" marR="137423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33">
                <a:solidFill>
                  <a:srgbClr val="1F2328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(exception)</a:t>
            </a:r>
            <a:endParaRPr sz="1533">
              <a:solidFill>
                <a:srgbClr val="1F2328"/>
              </a:solidFill>
              <a:highlight>
                <a:srgbClr val="F6F8FA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153" name="Google Shape;153;g3f4729efffc_2_206"/>
          <p:cNvCxnSpPr/>
          <p:nvPr/>
        </p:nvCxnSpPr>
        <p:spPr>
          <a:xfrm>
            <a:off x="10270234" y="3976800"/>
            <a:ext cx="0" cy="310200"/>
          </a:xfrm>
          <a:prstGeom prst="straightConnector1">
            <a:avLst/>
          </a:prstGeom>
          <a:noFill/>
          <a:ln w="171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4" name="Google Shape;154;g3f4729efffc_2_206"/>
          <p:cNvCxnSpPr/>
          <p:nvPr/>
        </p:nvCxnSpPr>
        <p:spPr>
          <a:xfrm rot="10800000">
            <a:off x="6055975" y="4307100"/>
            <a:ext cx="4217400" cy="0"/>
          </a:xfrm>
          <a:prstGeom prst="straightConnector1">
            <a:avLst/>
          </a:prstGeom>
          <a:noFill/>
          <a:ln w="171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5" name="Google Shape;155;g3f4729efffc_2_206"/>
          <p:cNvCxnSpPr/>
          <p:nvPr/>
        </p:nvCxnSpPr>
        <p:spPr>
          <a:xfrm>
            <a:off x="6056225" y="4318581"/>
            <a:ext cx="0" cy="351600"/>
          </a:xfrm>
          <a:prstGeom prst="straightConnector1">
            <a:avLst/>
          </a:prstGeom>
          <a:noFill/>
          <a:ln w="171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6" name="Google Shape;156;g3f4729efffc_2_206"/>
          <p:cNvCxnSpPr/>
          <p:nvPr/>
        </p:nvCxnSpPr>
        <p:spPr>
          <a:xfrm>
            <a:off x="8005525" y="4307099"/>
            <a:ext cx="0" cy="356100"/>
          </a:xfrm>
          <a:prstGeom prst="straightConnector1">
            <a:avLst/>
          </a:prstGeom>
          <a:noFill/>
          <a:ln w="171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7" name="Google Shape;157;g3f4729efffc_2_206"/>
          <p:cNvCxnSpPr/>
          <p:nvPr/>
        </p:nvCxnSpPr>
        <p:spPr>
          <a:xfrm>
            <a:off x="6056225" y="5800224"/>
            <a:ext cx="0" cy="310200"/>
          </a:xfrm>
          <a:prstGeom prst="straightConnector1">
            <a:avLst/>
          </a:prstGeom>
          <a:noFill/>
          <a:ln w="171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8" name="Google Shape;158;g3f4729efffc_2_206"/>
          <p:cNvCxnSpPr/>
          <p:nvPr/>
        </p:nvCxnSpPr>
        <p:spPr>
          <a:xfrm>
            <a:off x="8055050" y="5800224"/>
            <a:ext cx="0" cy="310200"/>
          </a:xfrm>
          <a:prstGeom prst="straightConnector1">
            <a:avLst/>
          </a:prstGeom>
          <a:noFill/>
          <a:ln w="171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9" name="Google Shape;159;g3f4729efffc_2_206"/>
          <p:cNvCxnSpPr/>
          <p:nvPr/>
        </p:nvCxnSpPr>
        <p:spPr>
          <a:xfrm>
            <a:off x="8791304" y="5196720"/>
            <a:ext cx="428400" cy="0"/>
          </a:xfrm>
          <a:prstGeom prst="straightConnector1">
            <a:avLst/>
          </a:prstGeom>
          <a:noFill/>
          <a:ln w="171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0" name="Google Shape;160;g3f4729efffc_2_206"/>
          <p:cNvCxnSpPr/>
          <p:nvPr/>
        </p:nvCxnSpPr>
        <p:spPr>
          <a:xfrm>
            <a:off x="1092575" y="3571025"/>
            <a:ext cx="1848900" cy="0"/>
          </a:xfrm>
          <a:prstGeom prst="straightConnector1">
            <a:avLst/>
          </a:prstGeom>
          <a:noFill/>
          <a:ln w="171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61" name="Google Shape;161;g3f4729efffc_2_206"/>
          <p:cNvSpPr/>
          <p:nvPr/>
        </p:nvSpPr>
        <p:spPr>
          <a:xfrm>
            <a:off x="7409474" y="3072563"/>
            <a:ext cx="1402200" cy="991200"/>
          </a:xfrm>
          <a:prstGeom prst="rect">
            <a:avLst/>
          </a:prstGeom>
          <a:solidFill>
            <a:schemeClr val="lt2"/>
          </a:solidFill>
          <a:ln w="86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2450" tIns="82450" rIns="82450" bIns="824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3">
                <a:latin typeface="Asta Sans"/>
                <a:ea typeface="Asta Sans"/>
                <a:cs typeface="Asta Sans"/>
                <a:sym typeface="Asta Sans"/>
              </a:rPr>
              <a:t>Constant</a:t>
            </a:r>
            <a:endParaRPr sz="1803">
              <a:latin typeface="Asta Sans"/>
              <a:ea typeface="Asta Sans"/>
              <a:cs typeface="Asta Sans"/>
              <a:sym typeface="Asta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3">
                <a:latin typeface="Asta Sans"/>
                <a:ea typeface="Asta Sans"/>
                <a:cs typeface="Asta Sans"/>
                <a:sym typeface="Asta Sans"/>
              </a:rPr>
              <a:t>Folder</a:t>
            </a:r>
            <a:endParaRPr sz="1803">
              <a:latin typeface="Asta Sans"/>
              <a:ea typeface="Asta Sans"/>
              <a:cs typeface="Asta Sans"/>
              <a:sym typeface="Asta Sans"/>
            </a:endParaRPr>
          </a:p>
        </p:txBody>
      </p:sp>
      <p:sp>
        <p:nvSpPr>
          <p:cNvPr id="162" name="Google Shape;162;g3f4729efffc_2_206"/>
          <p:cNvSpPr/>
          <p:nvPr/>
        </p:nvSpPr>
        <p:spPr>
          <a:xfrm>
            <a:off x="9540545" y="3072563"/>
            <a:ext cx="1402200" cy="991200"/>
          </a:xfrm>
          <a:prstGeom prst="rect">
            <a:avLst/>
          </a:prstGeom>
          <a:solidFill>
            <a:schemeClr val="lt2"/>
          </a:solidFill>
          <a:ln w="86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2450" tIns="82450" rIns="82450" bIns="824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3">
                <a:latin typeface="Asta Sans"/>
                <a:ea typeface="Asta Sans"/>
                <a:cs typeface="Asta Sans"/>
                <a:sym typeface="Asta Sans"/>
              </a:rPr>
              <a:t>Resolver</a:t>
            </a:r>
            <a:endParaRPr sz="1803">
              <a:latin typeface="Asta Sans"/>
              <a:ea typeface="Asta Sans"/>
              <a:cs typeface="Asta Sans"/>
              <a:sym typeface="Asta Sans"/>
            </a:endParaRPr>
          </a:p>
        </p:txBody>
      </p:sp>
      <p:cxnSp>
        <p:nvCxnSpPr>
          <p:cNvPr id="163" name="Google Shape;163;g3f4729efffc_2_206"/>
          <p:cNvCxnSpPr/>
          <p:nvPr/>
        </p:nvCxnSpPr>
        <p:spPr>
          <a:xfrm>
            <a:off x="8899189" y="3568125"/>
            <a:ext cx="498300" cy="0"/>
          </a:xfrm>
          <a:prstGeom prst="straightConnector1">
            <a:avLst/>
          </a:prstGeom>
          <a:noFill/>
          <a:ln w="171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4" name="Google Shape;164;g3f4729efffc_2_206"/>
          <p:cNvCxnSpPr/>
          <p:nvPr/>
        </p:nvCxnSpPr>
        <p:spPr>
          <a:xfrm>
            <a:off x="4847295" y="3568125"/>
            <a:ext cx="498300" cy="0"/>
          </a:xfrm>
          <a:prstGeom prst="straightConnector1">
            <a:avLst/>
          </a:prstGeom>
          <a:noFill/>
          <a:ln w="171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65" name="Google Shape;165;g3f4729efffc_2_206"/>
          <p:cNvSpPr/>
          <p:nvPr/>
        </p:nvSpPr>
        <p:spPr>
          <a:xfrm>
            <a:off x="716500" y="4762113"/>
            <a:ext cx="772200" cy="772200"/>
          </a:xfrm>
          <a:prstGeom prst="smileyFace">
            <a:avLst>
              <a:gd name="adj" fmla="val -4653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6" name="Google Shape;166;g3f4729efffc_2_206"/>
          <p:cNvSpPr txBox="1"/>
          <p:nvPr/>
        </p:nvSpPr>
        <p:spPr>
          <a:xfrm>
            <a:off x="566635" y="5556889"/>
            <a:ext cx="1442100" cy="40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450" tIns="82450" rIns="82450" bIns="82450" anchor="t" anchorCtr="0">
            <a:spAutoFit/>
          </a:bodyPr>
          <a:lstStyle/>
          <a:p>
            <a:pPr marL="137423" marR="137423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33" b="1">
                <a:solidFill>
                  <a:srgbClr val="1F2328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Client</a:t>
            </a:r>
            <a:endParaRPr sz="1533" b="1">
              <a:solidFill>
                <a:srgbClr val="1F2328"/>
              </a:solidFill>
              <a:highlight>
                <a:srgbClr val="F6F8FA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167" name="Google Shape;167;g3f4729efffc_2_206"/>
          <p:cNvCxnSpPr/>
          <p:nvPr/>
        </p:nvCxnSpPr>
        <p:spPr>
          <a:xfrm>
            <a:off x="1088975" y="3571875"/>
            <a:ext cx="0" cy="938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8" name="Google Shape;168;g3f4729efffc_2_206"/>
          <p:cNvSpPr/>
          <p:nvPr/>
        </p:nvSpPr>
        <p:spPr>
          <a:xfrm rot="2700000">
            <a:off x="1623314" y="3243186"/>
            <a:ext cx="649973" cy="649973"/>
          </a:xfrm>
          <a:prstGeom prst="plus">
            <a:avLst>
              <a:gd name="adj" fmla="val 42994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f4729efffc_2_129"/>
          <p:cNvSpPr/>
          <p:nvPr/>
        </p:nvSpPr>
        <p:spPr>
          <a:xfrm>
            <a:off x="3202845" y="3072563"/>
            <a:ext cx="1402200" cy="991200"/>
          </a:xfrm>
          <a:prstGeom prst="rect">
            <a:avLst/>
          </a:prstGeom>
          <a:solidFill>
            <a:schemeClr val="lt2"/>
          </a:solidFill>
          <a:ln w="86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2450" tIns="82450" rIns="82450" bIns="824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3">
                <a:latin typeface="Asta Sans"/>
                <a:ea typeface="Asta Sans"/>
                <a:cs typeface="Asta Sans"/>
                <a:sym typeface="Asta Sans"/>
              </a:rPr>
              <a:t>Assembler</a:t>
            </a:r>
            <a:endParaRPr sz="1803">
              <a:latin typeface="Asta Sans"/>
              <a:ea typeface="Asta Sans"/>
              <a:cs typeface="Asta Sans"/>
              <a:sym typeface="Asta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3">
                <a:latin typeface="Asta Sans"/>
                <a:ea typeface="Asta Sans"/>
                <a:cs typeface="Asta Sans"/>
                <a:sym typeface="Asta Sans"/>
              </a:rPr>
              <a:t>Unit</a:t>
            </a:r>
            <a:endParaRPr sz="1803">
              <a:latin typeface="Asta Sans"/>
              <a:ea typeface="Asta Sans"/>
              <a:cs typeface="Asta Sans"/>
              <a:sym typeface="Asta Sans"/>
            </a:endParaRPr>
          </a:p>
        </p:txBody>
      </p:sp>
      <p:sp>
        <p:nvSpPr>
          <p:cNvPr id="174" name="Google Shape;174;g3f4729efffc_2_129"/>
          <p:cNvSpPr txBox="1">
            <a:spLocks noGrp="1"/>
          </p:cNvSpPr>
          <p:nvPr>
            <p:ph type="body" idx="1"/>
          </p:nvPr>
        </p:nvSpPr>
        <p:spPr>
          <a:xfrm>
            <a:off x="605975" y="1316375"/>
            <a:ext cx="11481300" cy="53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sta Sans"/>
              <a:buChar char="●"/>
            </a:pPr>
            <a:r>
              <a:rPr lang="ko-KR">
                <a:latin typeface="Asta Sans"/>
                <a:ea typeface="Asta Sans"/>
                <a:cs typeface="Asta Sans"/>
                <a:sym typeface="Asta Sans"/>
              </a:rPr>
              <a:t>Facade Pattern</a:t>
            </a:r>
            <a:endParaRPr>
              <a:latin typeface="Asta Sans"/>
              <a:ea typeface="Asta Sans"/>
              <a:cs typeface="Asta Sans"/>
              <a:sym typeface="Asta Sans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sta Sans"/>
              <a:buChar char="○"/>
            </a:pPr>
            <a:r>
              <a:rPr lang="ko-KR">
                <a:latin typeface="Asta Sans"/>
                <a:ea typeface="Asta Sans"/>
                <a:cs typeface="Asta Sans"/>
                <a:sym typeface="Asta Sans"/>
              </a:rPr>
              <a:t>Client가 모듈들을 모른 채로 사용할 수 있도록, Interpreter Class가 호출의 책임을 갖도록 함</a:t>
            </a:r>
            <a:endParaRPr>
              <a:latin typeface="Asta Sans"/>
              <a:ea typeface="Asta Sans"/>
              <a:cs typeface="Asta Sans"/>
              <a:sym typeface="Asta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sta Sans"/>
              <a:ea typeface="Asta Sans"/>
              <a:cs typeface="Asta Sans"/>
              <a:sym typeface="Asta Sans"/>
            </a:endParaRPr>
          </a:p>
        </p:txBody>
      </p:sp>
      <p:sp>
        <p:nvSpPr>
          <p:cNvPr id="175" name="Google Shape;175;g3f4729efffc_2_129"/>
          <p:cNvSpPr txBox="1">
            <a:spLocks noGrp="1"/>
          </p:cNvSpPr>
          <p:nvPr>
            <p:ph type="title"/>
          </p:nvPr>
        </p:nvSpPr>
        <p:spPr>
          <a:xfrm>
            <a:off x="605980" y="310143"/>
            <a:ext cx="10515600" cy="6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ko-KR" sz="3200" b="1">
                <a:latin typeface="Asta Sans"/>
                <a:ea typeface="Asta Sans"/>
                <a:cs typeface="Asta Sans"/>
                <a:sym typeface="Asta Sans"/>
              </a:rPr>
              <a:t> 인터페이스 설계</a:t>
            </a:r>
            <a:endParaRPr b="1">
              <a:latin typeface="Asta Sans"/>
              <a:ea typeface="Asta Sans"/>
              <a:cs typeface="Asta Sans"/>
              <a:sym typeface="Asta Sans"/>
            </a:endParaRPr>
          </a:p>
        </p:txBody>
      </p:sp>
      <p:sp>
        <p:nvSpPr>
          <p:cNvPr id="176" name="Google Shape;176;g3f4729efffc_2_129"/>
          <p:cNvSpPr/>
          <p:nvPr/>
        </p:nvSpPr>
        <p:spPr>
          <a:xfrm>
            <a:off x="3202845" y="3072563"/>
            <a:ext cx="1402200" cy="991200"/>
          </a:xfrm>
          <a:prstGeom prst="rect">
            <a:avLst/>
          </a:prstGeom>
          <a:solidFill>
            <a:schemeClr val="lt2"/>
          </a:solidFill>
          <a:ln w="86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2450" tIns="82450" rIns="82450" bIns="824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3">
                <a:latin typeface="Asta Sans"/>
                <a:ea typeface="Asta Sans"/>
                <a:cs typeface="Asta Sans"/>
                <a:sym typeface="Asta Sans"/>
              </a:rPr>
              <a:t>Assembler</a:t>
            </a:r>
            <a:endParaRPr sz="1803">
              <a:latin typeface="Asta Sans"/>
              <a:ea typeface="Asta Sans"/>
              <a:cs typeface="Asta Sans"/>
              <a:sym typeface="Asta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3">
                <a:latin typeface="Asta Sans"/>
                <a:ea typeface="Asta Sans"/>
                <a:cs typeface="Asta Sans"/>
                <a:sym typeface="Asta Sans"/>
              </a:rPr>
              <a:t>Unit</a:t>
            </a:r>
            <a:endParaRPr sz="1803">
              <a:latin typeface="Asta Sans"/>
              <a:ea typeface="Asta Sans"/>
              <a:cs typeface="Asta Sans"/>
              <a:sym typeface="Asta Sans"/>
            </a:endParaRPr>
          </a:p>
        </p:txBody>
      </p:sp>
      <p:sp>
        <p:nvSpPr>
          <p:cNvPr id="177" name="Google Shape;177;g3f4729efffc_2_129"/>
          <p:cNvSpPr/>
          <p:nvPr/>
        </p:nvSpPr>
        <p:spPr>
          <a:xfrm>
            <a:off x="5349495" y="4723492"/>
            <a:ext cx="1402200" cy="991200"/>
          </a:xfrm>
          <a:prstGeom prst="rect">
            <a:avLst/>
          </a:prstGeom>
          <a:solidFill>
            <a:schemeClr val="lt2"/>
          </a:solidFill>
          <a:ln w="86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2450" tIns="82450" rIns="82450" bIns="824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3">
                <a:latin typeface="Asta Sans"/>
                <a:ea typeface="Asta Sans"/>
                <a:cs typeface="Asta Sans"/>
                <a:sym typeface="Asta Sans"/>
              </a:rPr>
              <a:t>Checker</a:t>
            </a:r>
            <a:endParaRPr sz="1803">
              <a:latin typeface="Asta Sans"/>
              <a:ea typeface="Asta Sans"/>
              <a:cs typeface="Asta Sans"/>
              <a:sym typeface="Asta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3">
                <a:latin typeface="Asta Sans"/>
                <a:ea typeface="Asta Sans"/>
                <a:cs typeface="Asta Sans"/>
                <a:sym typeface="Asta Sans"/>
              </a:rPr>
              <a:t>Unit</a:t>
            </a:r>
            <a:endParaRPr sz="1803">
              <a:latin typeface="Asta Sans"/>
              <a:ea typeface="Asta Sans"/>
              <a:cs typeface="Asta Sans"/>
              <a:sym typeface="Asta Sans"/>
            </a:endParaRPr>
          </a:p>
        </p:txBody>
      </p:sp>
      <p:sp>
        <p:nvSpPr>
          <p:cNvPr id="178" name="Google Shape;178;g3f4729efffc_2_129"/>
          <p:cNvSpPr/>
          <p:nvPr/>
        </p:nvSpPr>
        <p:spPr>
          <a:xfrm>
            <a:off x="7304417" y="4723492"/>
            <a:ext cx="1402200" cy="991200"/>
          </a:xfrm>
          <a:prstGeom prst="rect">
            <a:avLst/>
          </a:prstGeom>
          <a:solidFill>
            <a:schemeClr val="lt2"/>
          </a:solidFill>
          <a:ln w="86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2450" tIns="82450" rIns="82450" bIns="824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3">
                <a:latin typeface="Malgun Gothic"/>
                <a:ea typeface="Malgun Gothic"/>
                <a:cs typeface="Malgun Gothic"/>
                <a:sym typeface="Malgun Gothic"/>
              </a:rPr>
              <a:t>Executor</a:t>
            </a:r>
            <a:endParaRPr sz="1803"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3">
                <a:latin typeface="Malgun Gothic"/>
                <a:ea typeface="Malgun Gothic"/>
                <a:cs typeface="Malgun Gothic"/>
                <a:sym typeface="Malgun Gothic"/>
              </a:rPr>
              <a:t>Unit</a:t>
            </a:r>
            <a:endParaRPr sz="1803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9" name="Google Shape;179;g3f4729efffc_2_129"/>
          <p:cNvSpPr txBox="1"/>
          <p:nvPr/>
        </p:nvSpPr>
        <p:spPr>
          <a:xfrm>
            <a:off x="5329599" y="3130903"/>
            <a:ext cx="1669200" cy="87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450" tIns="82450" rIns="82450" bIns="82450" anchor="t" anchorCtr="0">
            <a:spAutoFit/>
          </a:bodyPr>
          <a:lstStyle/>
          <a:p>
            <a:pPr marL="137423" marR="137423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33" b="1">
                <a:solidFill>
                  <a:srgbClr val="1F2328"/>
                </a:solidFill>
                <a:latin typeface="Courier New"/>
                <a:ea typeface="Courier New"/>
                <a:cs typeface="Courier New"/>
                <a:sym typeface="Courier New"/>
              </a:rPr>
              <a:t>Program </a:t>
            </a:r>
            <a:r>
              <a:rPr lang="ko-KR" sz="1533">
                <a:solidFill>
                  <a:srgbClr val="1F2328"/>
                </a:solidFill>
                <a:latin typeface="Courier New"/>
                <a:ea typeface="Courier New"/>
                <a:cs typeface="Courier New"/>
                <a:sym typeface="Courier New"/>
              </a:rPr>
              <a:t>(Expr/Stmt tree)</a:t>
            </a:r>
            <a:endParaRPr sz="1533">
              <a:solidFill>
                <a:srgbClr val="1F2328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180" name="Google Shape;180;g3f4729efffc_2_129"/>
          <p:cNvCxnSpPr/>
          <p:nvPr/>
        </p:nvCxnSpPr>
        <p:spPr>
          <a:xfrm>
            <a:off x="6823648" y="3568125"/>
            <a:ext cx="498300" cy="0"/>
          </a:xfrm>
          <a:prstGeom prst="straightConnector1">
            <a:avLst/>
          </a:prstGeom>
          <a:noFill/>
          <a:ln w="171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81" name="Google Shape;181;g3f4729efffc_2_129"/>
          <p:cNvSpPr txBox="1"/>
          <p:nvPr/>
        </p:nvSpPr>
        <p:spPr>
          <a:xfrm>
            <a:off x="1069350" y="4093753"/>
            <a:ext cx="3526500" cy="6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450" tIns="82450" rIns="82450" bIns="82450" anchor="t" anchorCtr="0">
            <a:spAutoFit/>
          </a:bodyPr>
          <a:lstStyle/>
          <a:p>
            <a:pPr marL="137423" marR="137423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33" b="1">
                <a:solidFill>
                  <a:srgbClr val="1F2328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interpreter</a:t>
            </a:r>
            <a:br>
              <a:rPr lang="ko-KR" sz="1533" b="1">
                <a:solidFill>
                  <a:srgbClr val="1F2328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ko-KR" sz="1533" b="1">
                <a:solidFill>
                  <a:srgbClr val="1F2328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::run(input)</a:t>
            </a:r>
            <a:endParaRPr sz="1533">
              <a:solidFill>
                <a:srgbClr val="1F2328"/>
              </a:solidFill>
              <a:highlight>
                <a:srgbClr val="F6F8FA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82" name="Google Shape;182;g3f4729efffc_2_129"/>
          <p:cNvSpPr txBox="1"/>
          <p:nvPr/>
        </p:nvSpPr>
        <p:spPr>
          <a:xfrm>
            <a:off x="9108445" y="4877494"/>
            <a:ext cx="1442100" cy="6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450" tIns="82450" rIns="82450" bIns="82450" anchor="t" anchorCtr="0">
            <a:spAutoFit/>
          </a:bodyPr>
          <a:lstStyle/>
          <a:p>
            <a:pPr marL="137423" marR="137423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33" b="1">
                <a:solidFill>
                  <a:srgbClr val="1F2328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output</a:t>
            </a:r>
            <a:endParaRPr sz="1533" b="1">
              <a:solidFill>
                <a:srgbClr val="1F2328"/>
              </a:solidFill>
              <a:highlight>
                <a:srgbClr val="F6F8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137423" marR="137423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33">
                <a:solidFill>
                  <a:srgbClr val="1F2328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(string)</a:t>
            </a:r>
            <a:endParaRPr sz="1533">
              <a:solidFill>
                <a:srgbClr val="1F2328"/>
              </a:solidFill>
              <a:highlight>
                <a:srgbClr val="F6F8FA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83" name="Google Shape;183;g3f4729efffc_2_129"/>
          <p:cNvSpPr txBox="1"/>
          <p:nvPr/>
        </p:nvSpPr>
        <p:spPr>
          <a:xfrm>
            <a:off x="7184300" y="6059005"/>
            <a:ext cx="2035200" cy="6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450" tIns="82450" rIns="82450" bIns="82450" anchor="t" anchorCtr="0">
            <a:spAutoFit/>
          </a:bodyPr>
          <a:lstStyle/>
          <a:p>
            <a:pPr marL="137423" marR="137423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33" b="1">
                <a:solidFill>
                  <a:srgbClr val="1F2328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runtime_error</a:t>
            </a:r>
            <a:endParaRPr sz="1533" b="1">
              <a:solidFill>
                <a:srgbClr val="1F2328"/>
              </a:solidFill>
              <a:highlight>
                <a:srgbClr val="F6F8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137423" marR="137423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33">
                <a:solidFill>
                  <a:srgbClr val="1F2328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(exception)</a:t>
            </a:r>
            <a:endParaRPr sz="1533">
              <a:solidFill>
                <a:srgbClr val="1F2328"/>
              </a:solidFill>
              <a:highlight>
                <a:srgbClr val="F6F8FA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84" name="Google Shape;184;g3f4729efffc_2_129"/>
          <p:cNvSpPr txBox="1"/>
          <p:nvPr/>
        </p:nvSpPr>
        <p:spPr>
          <a:xfrm>
            <a:off x="5329610" y="6058997"/>
            <a:ext cx="1866900" cy="6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450" tIns="82450" rIns="82450" bIns="82450" anchor="t" anchorCtr="0">
            <a:spAutoFit/>
          </a:bodyPr>
          <a:lstStyle/>
          <a:p>
            <a:pPr marL="137423" marR="137423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33" b="1">
                <a:solidFill>
                  <a:srgbClr val="1F2328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static_error</a:t>
            </a:r>
            <a:endParaRPr sz="1533" b="1">
              <a:solidFill>
                <a:srgbClr val="1F2328"/>
              </a:solidFill>
              <a:highlight>
                <a:srgbClr val="F6F8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137423" marR="137423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33">
                <a:solidFill>
                  <a:srgbClr val="1F2328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(exception)</a:t>
            </a:r>
            <a:endParaRPr sz="1533">
              <a:solidFill>
                <a:srgbClr val="1F2328"/>
              </a:solidFill>
              <a:highlight>
                <a:srgbClr val="F6F8FA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185" name="Google Shape;185;g3f4729efffc_2_129"/>
          <p:cNvCxnSpPr/>
          <p:nvPr/>
        </p:nvCxnSpPr>
        <p:spPr>
          <a:xfrm>
            <a:off x="10270234" y="3976800"/>
            <a:ext cx="0" cy="310200"/>
          </a:xfrm>
          <a:prstGeom prst="straightConnector1">
            <a:avLst/>
          </a:prstGeom>
          <a:noFill/>
          <a:ln w="171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6" name="Google Shape;186;g3f4729efffc_2_129"/>
          <p:cNvCxnSpPr/>
          <p:nvPr/>
        </p:nvCxnSpPr>
        <p:spPr>
          <a:xfrm rot="10800000">
            <a:off x="6055975" y="4307100"/>
            <a:ext cx="4217400" cy="0"/>
          </a:xfrm>
          <a:prstGeom prst="straightConnector1">
            <a:avLst/>
          </a:prstGeom>
          <a:noFill/>
          <a:ln w="171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7" name="Google Shape;187;g3f4729efffc_2_129"/>
          <p:cNvCxnSpPr/>
          <p:nvPr/>
        </p:nvCxnSpPr>
        <p:spPr>
          <a:xfrm>
            <a:off x="6056225" y="4318581"/>
            <a:ext cx="0" cy="351600"/>
          </a:xfrm>
          <a:prstGeom prst="straightConnector1">
            <a:avLst/>
          </a:prstGeom>
          <a:noFill/>
          <a:ln w="171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8" name="Google Shape;188;g3f4729efffc_2_129"/>
          <p:cNvCxnSpPr/>
          <p:nvPr/>
        </p:nvCxnSpPr>
        <p:spPr>
          <a:xfrm>
            <a:off x="8005525" y="4307099"/>
            <a:ext cx="0" cy="356100"/>
          </a:xfrm>
          <a:prstGeom prst="straightConnector1">
            <a:avLst/>
          </a:prstGeom>
          <a:noFill/>
          <a:ln w="171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9" name="Google Shape;189;g3f4729efffc_2_129"/>
          <p:cNvCxnSpPr/>
          <p:nvPr/>
        </p:nvCxnSpPr>
        <p:spPr>
          <a:xfrm>
            <a:off x="6056225" y="5800224"/>
            <a:ext cx="0" cy="310200"/>
          </a:xfrm>
          <a:prstGeom prst="straightConnector1">
            <a:avLst/>
          </a:prstGeom>
          <a:noFill/>
          <a:ln w="171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0" name="Google Shape;190;g3f4729efffc_2_129"/>
          <p:cNvCxnSpPr/>
          <p:nvPr/>
        </p:nvCxnSpPr>
        <p:spPr>
          <a:xfrm>
            <a:off x="8055050" y="5800224"/>
            <a:ext cx="0" cy="310200"/>
          </a:xfrm>
          <a:prstGeom prst="straightConnector1">
            <a:avLst/>
          </a:prstGeom>
          <a:noFill/>
          <a:ln w="171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1" name="Google Shape;191;g3f4729efffc_2_129"/>
          <p:cNvCxnSpPr/>
          <p:nvPr/>
        </p:nvCxnSpPr>
        <p:spPr>
          <a:xfrm>
            <a:off x="8791304" y="5196720"/>
            <a:ext cx="428400" cy="0"/>
          </a:xfrm>
          <a:prstGeom prst="straightConnector1">
            <a:avLst/>
          </a:prstGeom>
          <a:noFill/>
          <a:ln w="171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92" name="Google Shape;192;g3f4729efffc_2_129"/>
          <p:cNvSpPr/>
          <p:nvPr/>
        </p:nvSpPr>
        <p:spPr>
          <a:xfrm>
            <a:off x="7409474" y="3072563"/>
            <a:ext cx="1402200" cy="991200"/>
          </a:xfrm>
          <a:prstGeom prst="rect">
            <a:avLst/>
          </a:prstGeom>
          <a:solidFill>
            <a:schemeClr val="lt2"/>
          </a:solidFill>
          <a:ln w="86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2450" tIns="82450" rIns="82450" bIns="824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3">
                <a:latin typeface="Asta Sans"/>
                <a:ea typeface="Asta Sans"/>
                <a:cs typeface="Asta Sans"/>
                <a:sym typeface="Asta Sans"/>
              </a:rPr>
              <a:t>Constant</a:t>
            </a:r>
            <a:endParaRPr sz="1803">
              <a:latin typeface="Asta Sans"/>
              <a:ea typeface="Asta Sans"/>
              <a:cs typeface="Asta Sans"/>
              <a:sym typeface="Asta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3">
                <a:latin typeface="Asta Sans"/>
                <a:ea typeface="Asta Sans"/>
                <a:cs typeface="Asta Sans"/>
                <a:sym typeface="Asta Sans"/>
              </a:rPr>
              <a:t>Folder</a:t>
            </a:r>
            <a:endParaRPr sz="1803">
              <a:latin typeface="Asta Sans"/>
              <a:ea typeface="Asta Sans"/>
              <a:cs typeface="Asta Sans"/>
              <a:sym typeface="Asta Sans"/>
            </a:endParaRPr>
          </a:p>
        </p:txBody>
      </p:sp>
      <p:sp>
        <p:nvSpPr>
          <p:cNvPr id="193" name="Google Shape;193;g3f4729efffc_2_129"/>
          <p:cNvSpPr/>
          <p:nvPr/>
        </p:nvSpPr>
        <p:spPr>
          <a:xfrm>
            <a:off x="9540545" y="3072563"/>
            <a:ext cx="1402200" cy="991200"/>
          </a:xfrm>
          <a:prstGeom prst="rect">
            <a:avLst/>
          </a:prstGeom>
          <a:solidFill>
            <a:schemeClr val="lt2"/>
          </a:solidFill>
          <a:ln w="86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2450" tIns="82450" rIns="82450" bIns="824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3">
                <a:latin typeface="Asta Sans"/>
                <a:ea typeface="Asta Sans"/>
                <a:cs typeface="Asta Sans"/>
                <a:sym typeface="Asta Sans"/>
              </a:rPr>
              <a:t>Resolver</a:t>
            </a:r>
            <a:endParaRPr sz="1803">
              <a:latin typeface="Asta Sans"/>
              <a:ea typeface="Asta Sans"/>
              <a:cs typeface="Asta Sans"/>
              <a:sym typeface="Asta Sans"/>
            </a:endParaRPr>
          </a:p>
        </p:txBody>
      </p:sp>
      <p:cxnSp>
        <p:nvCxnSpPr>
          <p:cNvPr id="194" name="Google Shape;194;g3f4729efffc_2_129"/>
          <p:cNvCxnSpPr/>
          <p:nvPr/>
        </p:nvCxnSpPr>
        <p:spPr>
          <a:xfrm>
            <a:off x="8899189" y="3568125"/>
            <a:ext cx="498300" cy="0"/>
          </a:xfrm>
          <a:prstGeom prst="straightConnector1">
            <a:avLst/>
          </a:prstGeom>
          <a:noFill/>
          <a:ln w="171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5" name="Google Shape;195;g3f4729efffc_2_129"/>
          <p:cNvCxnSpPr/>
          <p:nvPr/>
        </p:nvCxnSpPr>
        <p:spPr>
          <a:xfrm>
            <a:off x="4847295" y="3568125"/>
            <a:ext cx="498300" cy="0"/>
          </a:xfrm>
          <a:prstGeom prst="straightConnector1">
            <a:avLst/>
          </a:prstGeom>
          <a:noFill/>
          <a:ln w="171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96" name="Google Shape;196;g3f4729efffc_2_129"/>
          <p:cNvSpPr/>
          <p:nvPr/>
        </p:nvSpPr>
        <p:spPr>
          <a:xfrm>
            <a:off x="5107900" y="4431875"/>
            <a:ext cx="3856800" cy="1476600"/>
          </a:xfrm>
          <a:prstGeom prst="rect">
            <a:avLst/>
          </a:prstGeom>
          <a:solidFill>
            <a:srgbClr val="F3E65A">
              <a:alpha val="449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7" name="Google Shape;197;g3f4729efffc_2_129"/>
          <p:cNvSpPr/>
          <p:nvPr/>
        </p:nvSpPr>
        <p:spPr>
          <a:xfrm>
            <a:off x="3067600" y="2801475"/>
            <a:ext cx="8054100" cy="1630500"/>
          </a:xfrm>
          <a:prstGeom prst="rect">
            <a:avLst/>
          </a:prstGeom>
          <a:solidFill>
            <a:srgbClr val="F3E65A">
              <a:alpha val="449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8" name="Google Shape;198;g3f4729efffc_2_129"/>
          <p:cNvSpPr/>
          <p:nvPr/>
        </p:nvSpPr>
        <p:spPr>
          <a:xfrm>
            <a:off x="716500" y="4762113"/>
            <a:ext cx="772200" cy="772200"/>
          </a:xfrm>
          <a:prstGeom prst="smileyFace">
            <a:avLst>
              <a:gd name="adj" fmla="val 4653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9" name="Google Shape;199;g3f4729efffc_2_129"/>
          <p:cNvSpPr txBox="1"/>
          <p:nvPr/>
        </p:nvSpPr>
        <p:spPr>
          <a:xfrm>
            <a:off x="566635" y="5556889"/>
            <a:ext cx="1442100" cy="40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450" tIns="82450" rIns="82450" bIns="82450" anchor="t" anchorCtr="0">
            <a:spAutoFit/>
          </a:bodyPr>
          <a:lstStyle/>
          <a:p>
            <a:pPr marL="137423" marR="137423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33" b="1">
                <a:solidFill>
                  <a:srgbClr val="1F2328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Client</a:t>
            </a:r>
            <a:endParaRPr sz="1533" b="1">
              <a:solidFill>
                <a:srgbClr val="1F2328"/>
              </a:solidFill>
              <a:highlight>
                <a:srgbClr val="F6F8FA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00" name="Google Shape;200;g3f4729efffc_2_129"/>
          <p:cNvSpPr/>
          <p:nvPr/>
        </p:nvSpPr>
        <p:spPr>
          <a:xfrm>
            <a:off x="387870" y="3072563"/>
            <a:ext cx="1402200" cy="991200"/>
          </a:xfrm>
          <a:prstGeom prst="rect">
            <a:avLst/>
          </a:prstGeom>
          <a:solidFill>
            <a:schemeClr val="lt2"/>
          </a:solidFill>
          <a:ln w="86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2450" tIns="82450" rIns="82450" bIns="824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3">
                <a:latin typeface="Asta Sans"/>
                <a:ea typeface="Asta Sans"/>
                <a:cs typeface="Asta Sans"/>
                <a:sym typeface="Asta Sans"/>
              </a:rPr>
              <a:t>Interpreter</a:t>
            </a:r>
            <a:endParaRPr sz="1803">
              <a:latin typeface="Asta Sans"/>
              <a:ea typeface="Asta Sans"/>
              <a:cs typeface="Asta Sans"/>
              <a:sym typeface="Asta Sans"/>
            </a:endParaRPr>
          </a:p>
        </p:txBody>
      </p:sp>
      <p:cxnSp>
        <p:nvCxnSpPr>
          <p:cNvPr id="201" name="Google Shape;201;g3f4729efffc_2_129"/>
          <p:cNvCxnSpPr/>
          <p:nvPr/>
        </p:nvCxnSpPr>
        <p:spPr>
          <a:xfrm rot="10800000">
            <a:off x="1069350" y="4213600"/>
            <a:ext cx="0" cy="398700"/>
          </a:xfrm>
          <a:prstGeom prst="straightConnector1">
            <a:avLst/>
          </a:prstGeom>
          <a:noFill/>
          <a:ln w="171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2" name="Google Shape;202;g3f4729efffc_2_129"/>
          <p:cNvCxnSpPr/>
          <p:nvPr/>
        </p:nvCxnSpPr>
        <p:spPr>
          <a:xfrm>
            <a:off x="1940450" y="3571025"/>
            <a:ext cx="1001100" cy="0"/>
          </a:xfrm>
          <a:prstGeom prst="straightConnector1">
            <a:avLst/>
          </a:prstGeom>
          <a:noFill/>
          <a:ln w="171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f4729efffc_2_437"/>
          <p:cNvSpPr txBox="1">
            <a:spLocks noGrp="1"/>
          </p:cNvSpPr>
          <p:nvPr>
            <p:ph type="body" idx="1"/>
          </p:nvPr>
        </p:nvSpPr>
        <p:spPr>
          <a:xfrm>
            <a:off x="605975" y="1316375"/>
            <a:ext cx="11481300" cy="53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sta Sans"/>
              <a:buChar char="●"/>
            </a:pPr>
            <a:r>
              <a:rPr lang="ko-KR">
                <a:latin typeface="Asta Sans"/>
                <a:ea typeface="Asta Sans"/>
                <a:cs typeface="Asta Sans"/>
                <a:sym typeface="Asta Sans"/>
              </a:rPr>
              <a:t>Strategy Pattern</a:t>
            </a:r>
            <a:endParaRPr>
              <a:latin typeface="Asta Sans"/>
              <a:ea typeface="Asta Sans"/>
              <a:cs typeface="Asta Sans"/>
              <a:sym typeface="Asta Sans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sta Sans"/>
              <a:buChar char="○"/>
            </a:pPr>
            <a:r>
              <a:rPr lang="ko-KR">
                <a:latin typeface="Asta Sans"/>
                <a:ea typeface="Asta Sans"/>
                <a:cs typeface="Asta Sans"/>
                <a:sym typeface="Asta Sans"/>
              </a:rPr>
              <a:t>Runtime 중 OuputWriter의 Strategy 결정 (output string을 어디에 써 줄것인가)</a:t>
            </a:r>
            <a:endParaRPr>
              <a:latin typeface="Asta Sans"/>
              <a:ea typeface="Asta Sans"/>
              <a:cs typeface="Asta Sans"/>
              <a:sym typeface="Asta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latin typeface="Asta Sans"/>
                <a:ea typeface="Asta Sans"/>
                <a:cs typeface="Asta Sans"/>
                <a:sym typeface="Asta Sans"/>
              </a:rPr>
              <a:t> </a:t>
            </a:r>
            <a:endParaRPr>
              <a:latin typeface="Asta Sans"/>
              <a:ea typeface="Asta Sans"/>
              <a:cs typeface="Asta Sans"/>
              <a:sym typeface="Asta Sans"/>
            </a:endParaRPr>
          </a:p>
        </p:txBody>
      </p:sp>
      <p:sp>
        <p:nvSpPr>
          <p:cNvPr id="208" name="Google Shape;208;g3f4729efffc_2_437"/>
          <p:cNvSpPr txBox="1">
            <a:spLocks noGrp="1"/>
          </p:cNvSpPr>
          <p:nvPr>
            <p:ph type="title"/>
          </p:nvPr>
        </p:nvSpPr>
        <p:spPr>
          <a:xfrm>
            <a:off x="605980" y="310143"/>
            <a:ext cx="10515600" cy="6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ko-KR" sz="3200" b="1">
                <a:latin typeface="Asta Sans"/>
                <a:ea typeface="Asta Sans"/>
                <a:cs typeface="Asta Sans"/>
                <a:sym typeface="Asta Sans"/>
              </a:rPr>
              <a:t> 인터페이스 설계</a:t>
            </a:r>
            <a:endParaRPr b="1">
              <a:latin typeface="Asta Sans"/>
              <a:ea typeface="Asta Sans"/>
              <a:cs typeface="Asta Sans"/>
              <a:sym typeface="Asta Sans"/>
            </a:endParaRPr>
          </a:p>
        </p:txBody>
      </p:sp>
      <p:sp>
        <p:nvSpPr>
          <p:cNvPr id="209" name="Google Shape;209;g3f4729efffc_2_437"/>
          <p:cNvSpPr/>
          <p:nvPr/>
        </p:nvSpPr>
        <p:spPr>
          <a:xfrm>
            <a:off x="5578925" y="2834875"/>
            <a:ext cx="1801500" cy="768900"/>
          </a:xfrm>
          <a:prstGeom prst="rect">
            <a:avLst/>
          </a:prstGeom>
          <a:solidFill>
            <a:srgbClr val="FFE599"/>
          </a:solidFill>
          <a:ln w="86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2450" tIns="82450" rIns="82450" bIns="824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3">
                <a:latin typeface="Asta Sans"/>
                <a:ea typeface="Asta Sans"/>
                <a:cs typeface="Asta Sans"/>
                <a:sym typeface="Asta Sans"/>
              </a:rPr>
              <a:t>&lt;&lt;Interface&gt;&gt;</a:t>
            </a:r>
            <a:br>
              <a:rPr lang="ko-KR" sz="1803">
                <a:latin typeface="Asta Sans"/>
                <a:ea typeface="Asta Sans"/>
                <a:cs typeface="Asta Sans"/>
                <a:sym typeface="Asta Sans"/>
              </a:rPr>
            </a:br>
            <a:r>
              <a:rPr lang="ko-KR" sz="1803">
                <a:latin typeface="Asta Sans"/>
                <a:ea typeface="Asta Sans"/>
                <a:cs typeface="Asta Sans"/>
                <a:sym typeface="Asta Sans"/>
              </a:rPr>
              <a:t>OutputWriter</a:t>
            </a:r>
            <a:endParaRPr sz="1803">
              <a:latin typeface="Asta Sans"/>
              <a:ea typeface="Asta Sans"/>
              <a:cs typeface="Asta Sans"/>
              <a:sym typeface="Asta Sans"/>
            </a:endParaRPr>
          </a:p>
        </p:txBody>
      </p:sp>
      <p:sp>
        <p:nvSpPr>
          <p:cNvPr id="210" name="Google Shape;210;g3f4729efffc_2_437"/>
          <p:cNvSpPr/>
          <p:nvPr/>
        </p:nvSpPr>
        <p:spPr>
          <a:xfrm>
            <a:off x="5578925" y="3603800"/>
            <a:ext cx="1801500" cy="371100"/>
          </a:xfrm>
          <a:prstGeom prst="rect">
            <a:avLst/>
          </a:prstGeom>
          <a:solidFill>
            <a:srgbClr val="FFE599"/>
          </a:solidFill>
          <a:ln w="86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2450" tIns="82450" rIns="82450" bIns="824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3">
                <a:latin typeface="Asta Sans"/>
                <a:ea typeface="Asta Sans"/>
                <a:cs typeface="Asta Sans"/>
                <a:sym typeface="Asta Sans"/>
              </a:rPr>
              <a:t>write()</a:t>
            </a:r>
            <a:endParaRPr sz="1803">
              <a:latin typeface="Asta Sans"/>
              <a:ea typeface="Asta Sans"/>
              <a:cs typeface="Asta Sans"/>
              <a:sym typeface="Asta Sans"/>
            </a:endParaRPr>
          </a:p>
        </p:txBody>
      </p:sp>
      <p:sp>
        <p:nvSpPr>
          <p:cNvPr id="211" name="Google Shape;211;g3f4729efffc_2_437"/>
          <p:cNvSpPr/>
          <p:nvPr/>
        </p:nvSpPr>
        <p:spPr>
          <a:xfrm>
            <a:off x="1224625" y="4893825"/>
            <a:ext cx="1801500" cy="768900"/>
          </a:xfrm>
          <a:prstGeom prst="rect">
            <a:avLst/>
          </a:prstGeom>
          <a:solidFill>
            <a:schemeClr val="lt2"/>
          </a:solidFill>
          <a:ln w="86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2450" tIns="82450" rIns="82450" bIns="824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3">
                <a:latin typeface="Asta Sans"/>
                <a:ea typeface="Asta Sans"/>
                <a:cs typeface="Asta Sans"/>
                <a:sym typeface="Asta Sans"/>
              </a:rPr>
              <a:t>ConsoleOutput</a:t>
            </a:r>
            <a:br>
              <a:rPr lang="ko-KR" sz="1803">
                <a:latin typeface="Asta Sans"/>
                <a:ea typeface="Asta Sans"/>
                <a:cs typeface="Asta Sans"/>
                <a:sym typeface="Asta Sans"/>
              </a:rPr>
            </a:br>
            <a:r>
              <a:rPr lang="ko-KR" sz="1803">
                <a:latin typeface="Asta Sans"/>
                <a:ea typeface="Asta Sans"/>
                <a:cs typeface="Asta Sans"/>
                <a:sym typeface="Asta Sans"/>
              </a:rPr>
              <a:t>Writer</a:t>
            </a:r>
            <a:endParaRPr sz="1803">
              <a:latin typeface="Asta Sans"/>
              <a:ea typeface="Asta Sans"/>
              <a:cs typeface="Asta Sans"/>
              <a:sym typeface="Asta Sans"/>
            </a:endParaRPr>
          </a:p>
        </p:txBody>
      </p:sp>
      <p:sp>
        <p:nvSpPr>
          <p:cNvPr id="212" name="Google Shape;212;g3f4729efffc_2_437"/>
          <p:cNvSpPr/>
          <p:nvPr/>
        </p:nvSpPr>
        <p:spPr>
          <a:xfrm>
            <a:off x="1224625" y="5662725"/>
            <a:ext cx="1801500" cy="371100"/>
          </a:xfrm>
          <a:prstGeom prst="rect">
            <a:avLst/>
          </a:prstGeom>
          <a:solidFill>
            <a:schemeClr val="lt2"/>
          </a:solidFill>
          <a:ln w="86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2450" tIns="82450" rIns="82450" bIns="824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3">
                <a:latin typeface="Asta Sans"/>
                <a:ea typeface="Asta Sans"/>
                <a:cs typeface="Asta Sans"/>
                <a:sym typeface="Asta Sans"/>
              </a:rPr>
              <a:t>write()</a:t>
            </a:r>
            <a:endParaRPr sz="1803">
              <a:latin typeface="Asta Sans"/>
              <a:ea typeface="Asta Sans"/>
              <a:cs typeface="Asta Sans"/>
              <a:sym typeface="Asta Sans"/>
            </a:endParaRPr>
          </a:p>
        </p:txBody>
      </p:sp>
      <p:sp>
        <p:nvSpPr>
          <p:cNvPr id="213" name="Google Shape;213;g3f4729efffc_2_437"/>
          <p:cNvSpPr/>
          <p:nvPr/>
        </p:nvSpPr>
        <p:spPr>
          <a:xfrm>
            <a:off x="3401775" y="4893825"/>
            <a:ext cx="1801500" cy="768900"/>
          </a:xfrm>
          <a:prstGeom prst="rect">
            <a:avLst/>
          </a:prstGeom>
          <a:solidFill>
            <a:schemeClr val="lt2"/>
          </a:solidFill>
          <a:ln w="86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2450" tIns="82450" rIns="82450" bIns="824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3">
                <a:latin typeface="Asta Sans"/>
                <a:ea typeface="Asta Sans"/>
                <a:cs typeface="Asta Sans"/>
                <a:sym typeface="Asta Sans"/>
              </a:rPr>
              <a:t>StreamOutput</a:t>
            </a:r>
            <a:br>
              <a:rPr lang="ko-KR" sz="1803">
                <a:latin typeface="Asta Sans"/>
                <a:ea typeface="Asta Sans"/>
                <a:cs typeface="Asta Sans"/>
                <a:sym typeface="Asta Sans"/>
              </a:rPr>
            </a:br>
            <a:r>
              <a:rPr lang="ko-KR" sz="1803">
                <a:latin typeface="Asta Sans"/>
                <a:ea typeface="Asta Sans"/>
                <a:cs typeface="Asta Sans"/>
                <a:sym typeface="Asta Sans"/>
              </a:rPr>
              <a:t>Writer</a:t>
            </a:r>
            <a:endParaRPr sz="1803">
              <a:latin typeface="Asta Sans"/>
              <a:ea typeface="Asta Sans"/>
              <a:cs typeface="Asta Sans"/>
              <a:sym typeface="Asta Sans"/>
            </a:endParaRPr>
          </a:p>
        </p:txBody>
      </p:sp>
      <p:sp>
        <p:nvSpPr>
          <p:cNvPr id="214" name="Google Shape;214;g3f4729efffc_2_437"/>
          <p:cNvSpPr/>
          <p:nvPr/>
        </p:nvSpPr>
        <p:spPr>
          <a:xfrm>
            <a:off x="3401775" y="5662725"/>
            <a:ext cx="1801500" cy="371100"/>
          </a:xfrm>
          <a:prstGeom prst="rect">
            <a:avLst/>
          </a:prstGeom>
          <a:solidFill>
            <a:schemeClr val="lt2"/>
          </a:solidFill>
          <a:ln w="86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2450" tIns="82450" rIns="82450" bIns="824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3">
                <a:latin typeface="Asta Sans"/>
                <a:ea typeface="Asta Sans"/>
                <a:cs typeface="Asta Sans"/>
                <a:sym typeface="Asta Sans"/>
              </a:rPr>
              <a:t>write()</a:t>
            </a:r>
            <a:endParaRPr sz="1803">
              <a:latin typeface="Asta Sans"/>
              <a:ea typeface="Asta Sans"/>
              <a:cs typeface="Asta Sans"/>
              <a:sym typeface="Asta Sans"/>
            </a:endParaRPr>
          </a:p>
        </p:txBody>
      </p:sp>
      <p:sp>
        <p:nvSpPr>
          <p:cNvPr id="215" name="Google Shape;215;g3f4729efffc_2_437"/>
          <p:cNvSpPr/>
          <p:nvPr/>
        </p:nvSpPr>
        <p:spPr>
          <a:xfrm>
            <a:off x="5578925" y="4893825"/>
            <a:ext cx="1801500" cy="768900"/>
          </a:xfrm>
          <a:prstGeom prst="rect">
            <a:avLst/>
          </a:prstGeom>
          <a:solidFill>
            <a:schemeClr val="lt2"/>
          </a:solidFill>
          <a:ln w="86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2450" tIns="82450" rIns="82450" bIns="824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3">
                <a:latin typeface="Asta Sans"/>
                <a:ea typeface="Asta Sans"/>
                <a:cs typeface="Asta Sans"/>
                <a:sym typeface="Asta Sans"/>
              </a:rPr>
              <a:t>NullOutput</a:t>
            </a:r>
            <a:br>
              <a:rPr lang="ko-KR" sz="1803">
                <a:latin typeface="Asta Sans"/>
                <a:ea typeface="Asta Sans"/>
                <a:cs typeface="Asta Sans"/>
                <a:sym typeface="Asta Sans"/>
              </a:rPr>
            </a:br>
            <a:r>
              <a:rPr lang="ko-KR" sz="1803">
                <a:latin typeface="Asta Sans"/>
                <a:ea typeface="Asta Sans"/>
                <a:cs typeface="Asta Sans"/>
                <a:sym typeface="Asta Sans"/>
              </a:rPr>
              <a:t>Writer</a:t>
            </a:r>
            <a:endParaRPr sz="1803">
              <a:latin typeface="Asta Sans"/>
              <a:ea typeface="Asta Sans"/>
              <a:cs typeface="Asta Sans"/>
              <a:sym typeface="Asta Sans"/>
            </a:endParaRPr>
          </a:p>
        </p:txBody>
      </p:sp>
      <p:sp>
        <p:nvSpPr>
          <p:cNvPr id="216" name="Google Shape;216;g3f4729efffc_2_437"/>
          <p:cNvSpPr/>
          <p:nvPr/>
        </p:nvSpPr>
        <p:spPr>
          <a:xfrm>
            <a:off x="5578925" y="5662725"/>
            <a:ext cx="1801500" cy="371100"/>
          </a:xfrm>
          <a:prstGeom prst="rect">
            <a:avLst/>
          </a:prstGeom>
          <a:solidFill>
            <a:schemeClr val="lt2"/>
          </a:solidFill>
          <a:ln w="86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2450" tIns="82450" rIns="82450" bIns="824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3">
                <a:latin typeface="Asta Sans"/>
                <a:ea typeface="Asta Sans"/>
                <a:cs typeface="Asta Sans"/>
                <a:sym typeface="Asta Sans"/>
              </a:rPr>
              <a:t>write()</a:t>
            </a:r>
            <a:endParaRPr sz="1803">
              <a:latin typeface="Asta Sans"/>
              <a:ea typeface="Asta Sans"/>
              <a:cs typeface="Asta Sans"/>
              <a:sym typeface="Asta Sans"/>
            </a:endParaRPr>
          </a:p>
        </p:txBody>
      </p:sp>
      <p:sp>
        <p:nvSpPr>
          <p:cNvPr id="217" name="Google Shape;217;g3f4729efffc_2_437"/>
          <p:cNvSpPr/>
          <p:nvPr/>
        </p:nvSpPr>
        <p:spPr>
          <a:xfrm>
            <a:off x="7756075" y="4893825"/>
            <a:ext cx="1801500" cy="768900"/>
          </a:xfrm>
          <a:prstGeom prst="rect">
            <a:avLst/>
          </a:prstGeom>
          <a:solidFill>
            <a:schemeClr val="lt2"/>
          </a:solidFill>
          <a:ln w="86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2450" tIns="82450" rIns="82450" bIns="824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3">
                <a:latin typeface="Asta Sans"/>
                <a:ea typeface="Asta Sans"/>
                <a:cs typeface="Asta Sans"/>
                <a:sym typeface="Asta Sans"/>
              </a:rPr>
              <a:t>FakeOutput</a:t>
            </a:r>
            <a:br>
              <a:rPr lang="ko-KR" sz="1803">
                <a:latin typeface="Asta Sans"/>
                <a:ea typeface="Asta Sans"/>
                <a:cs typeface="Asta Sans"/>
                <a:sym typeface="Asta Sans"/>
              </a:rPr>
            </a:br>
            <a:r>
              <a:rPr lang="ko-KR" sz="1803">
                <a:latin typeface="Asta Sans"/>
                <a:ea typeface="Asta Sans"/>
                <a:cs typeface="Asta Sans"/>
                <a:sym typeface="Asta Sans"/>
              </a:rPr>
              <a:t>Writer</a:t>
            </a:r>
            <a:endParaRPr sz="1803">
              <a:latin typeface="Asta Sans"/>
              <a:ea typeface="Asta Sans"/>
              <a:cs typeface="Asta Sans"/>
              <a:sym typeface="Asta Sans"/>
            </a:endParaRPr>
          </a:p>
        </p:txBody>
      </p:sp>
      <p:sp>
        <p:nvSpPr>
          <p:cNvPr id="218" name="Google Shape;218;g3f4729efffc_2_437"/>
          <p:cNvSpPr/>
          <p:nvPr/>
        </p:nvSpPr>
        <p:spPr>
          <a:xfrm>
            <a:off x="7756075" y="5662725"/>
            <a:ext cx="1801500" cy="371100"/>
          </a:xfrm>
          <a:prstGeom prst="rect">
            <a:avLst/>
          </a:prstGeom>
          <a:solidFill>
            <a:schemeClr val="lt2"/>
          </a:solidFill>
          <a:ln w="86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2450" tIns="82450" rIns="82450" bIns="824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3">
                <a:latin typeface="Asta Sans"/>
                <a:ea typeface="Asta Sans"/>
                <a:cs typeface="Asta Sans"/>
                <a:sym typeface="Asta Sans"/>
              </a:rPr>
              <a:t>write()</a:t>
            </a:r>
            <a:endParaRPr sz="1803">
              <a:latin typeface="Asta Sans"/>
              <a:ea typeface="Asta Sans"/>
              <a:cs typeface="Asta Sans"/>
              <a:sym typeface="Asta Sans"/>
            </a:endParaRPr>
          </a:p>
        </p:txBody>
      </p:sp>
      <p:sp>
        <p:nvSpPr>
          <p:cNvPr id="219" name="Google Shape;219;g3f4729efffc_2_437"/>
          <p:cNvSpPr/>
          <p:nvPr/>
        </p:nvSpPr>
        <p:spPr>
          <a:xfrm>
            <a:off x="9933225" y="4893825"/>
            <a:ext cx="1801500" cy="768900"/>
          </a:xfrm>
          <a:prstGeom prst="rect">
            <a:avLst/>
          </a:prstGeom>
          <a:solidFill>
            <a:schemeClr val="lt2"/>
          </a:solidFill>
          <a:ln w="86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2450" tIns="82450" rIns="82450" bIns="824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3">
                <a:latin typeface="Asta Sans"/>
                <a:ea typeface="Asta Sans"/>
                <a:cs typeface="Asta Sans"/>
                <a:sym typeface="Asta Sans"/>
              </a:rPr>
              <a:t>확장 가능</a:t>
            </a:r>
            <a:endParaRPr sz="1803">
              <a:latin typeface="Asta Sans"/>
              <a:ea typeface="Asta Sans"/>
              <a:cs typeface="Asta Sans"/>
              <a:sym typeface="Asta Sans"/>
            </a:endParaRPr>
          </a:p>
        </p:txBody>
      </p:sp>
      <p:sp>
        <p:nvSpPr>
          <p:cNvPr id="220" name="Google Shape;220;g3f4729efffc_2_437"/>
          <p:cNvSpPr/>
          <p:nvPr/>
        </p:nvSpPr>
        <p:spPr>
          <a:xfrm>
            <a:off x="9933225" y="5662725"/>
            <a:ext cx="1801500" cy="371100"/>
          </a:xfrm>
          <a:prstGeom prst="rect">
            <a:avLst/>
          </a:prstGeom>
          <a:solidFill>
            <a:schemeClr val="lt2"/>
          </a:solidFill>
          <a:ln w="86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2450" tIns="82450" rIns="82450" bIns="824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3">
                <a:solidFill>
                  <a:schemeClr val="dk1"/>
                </a:solidFill>
                <a:latin typeface="Asta Sans"/>
                <a:ea typeface="Asta Sans"/>
                <a:cs typeface="Asta Sans"/>
                <a:sym typeface="Asta Sans"/>
              </a:rPr>
              <a:t>write</a:t>
            </a:r>
            <a:r>
              <a:rPr lang="ko-KR" sz="1803">
                <a:latin typeface="Asta Sans"/>
                <a:ea typeface="Asta Sans"/>
                <a:cs typeface="Asta Sans"/>
                <a:sym typeface="Asta Sans"/>
              </a:rPr>
              <a:t>()</a:t>
            </a:r>
            <a:endParaRPr sz="1803">
              <a:latin typeface="Asta Sans"/>
              <a:ea typeface="Asta Sans"/>
              <a:cs typeface="Asta Sans"/>
              <a:sym typeface="Asta Sans"/>
            </a:endParaRPr>
          </a:p>
        </p:txBody>
      </p:sp>
      <p:cxnSp>
        <p:nvCxnSpPr>
          <p:cNvPr id="221" name="Google Shape;221;g3f4729efffc_2_437"/>
          <p:cNvCxnSpPr>
            <a:stCxn id="211" idx="0"/>
            <a:endCxn id="210" idx="2"/>
          </p:cNvCxnSpPr>
          <p:nvPr/>
        </p:nvCxnSpPr>
        <p:spPr>
          <a:xfrm rot="10800000" flipH="1">
            <a:off x="2125375" y="3974925"/>
            <a:ext cx="4354200" cy="9189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222" name="Google Shape;222;g3f4729efffc_2_437"/>
          <p:cNvCxnSpPr>
            <a:endCxn id="210" idx="2"/>
          </p:cNvCxnSpPr>
          <p:nvPr/>
        </p:nvCxnSpPr>
        <p:spPr>
          <a:xfrm rot="10800000" flipH="1">
            <a:off x="4302575" y="3974900"/>
            <a:ext cx="2177100" cy="9189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223" name="Google Shape;223;g3f4729efffc_2_437"/>
          <p:cNvCxnSpPr>
            <a:endCxn id="210" idx="2"/>
          </p:cNvCxnSpPr>
          <p:nvPr/>
        </p:nvCxnSpPr>
        <p:spPr>
          <a:xfrm rot="10800000">
            <a:off x="6479675" y="3974900"/>
            <a:ext cx="0" cy="9189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224" name="Google Shape;224;g3f4729efffc_2_437"/>
          <p:cNvCxnSpPr>
            <a:stCxn id="217" idx="0"/>
            <a:endCxn id="210" idx="2"/>
          </p:cNvCxnSpPr>
          <p:nvPr/>
        </p:nvCxnSpPr>
        <p:spPr>
          <a:xfrm rot="10800000">
            <a:off x="6479725" y="3974925"/>
            <a:ext cx="2177100" cy="9189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225" name="Google Shape;225;g3f4729efffc_2_437"/>
          <p:cNvCxnSpPr>
            <a:endCxn id="210" idx="2"/>
          </p:cNvCxnSpPr>
          <p:nvPr/>
        </p:nvCxnSpPr>
        <p:spPr>
          <a:xfrm rot="10800000">
            <a:off x="6479675" y="3974900"/>
            <a:ext cx="4354200" cy="9189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226" name="Google Shape;226;g3f4729efffc_2_437"/>
          <p:cNvCxnSpPr/>
          <p:nvPr/>
        </p:nvCxnSpPr>
        <p:spPr>
          <a:xfrm>
            <a:off x="3089775" y="3429025"/>
            <a:ext cx="24255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27" name="Google Shape;227;g3f4729efffc_2_437"/>
          <p:cNvSpPr/>
          <p:nvPr/>
        </p:nvSpPr>
        <p:spPr>
          <a:xfrm>
            <a:off x="1224625" y="2859000"/>
            <a:ext cx="1801500" cy="768900"/>
          </a:xfrm>
          <a:prstGeom prst="rect">
            <a:avLst/>
          </a:prstGeom>
          <a:solidFill>
            <a:schemeClr val="lt2"/>
          </a:solidFill>
          <a:ln w="86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2450" tIns="82450" rIns="82450" bIns="824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3">
                <a:latin typeface="Asta Sans"/>
                <a:ea typeface="Asta Sans"/>
                <a:cs typeface="Asta Sans"/>
                <a:sym typeface="Asta Sans"/>
              </a:rPr>
              <a:t>Executor</a:t>
            </a:r>
            <a:endParaRPr sz="1803">
              <a:latin typeface="Asta Sans"/>
              <a:ea typeface="Asta Sans"/>
              <a:cs typeface="Asta Sans"/>
              <a:sym typeface="Asta Sans"/>
            </a:endParaRPr>
          </a:p>
        </p:txBody>
      </p:sp>
      <p:sp>
        <p:nvSpPr>
          <p:cNvPr id="228" name="Google Shape;228;g3f4729efffc_2_437"/>
          <p:cNvSpPr/>
          <p:nvPr/>
        </p:nvSpPr>
        <p:spPr>
          <a:xfrm>
            <a:off x="1224625" y="3627900"/>
            <a:ext cx="1801500" cy="371100"/>
          </a:xfrm>
          <a:prstGeom prst="rect">
            <a:avLst/>
          </a:prstGeom>
          <a:solidFill>
            <a:schemeClr val="lt2"/>
          </a:solidFill>
          <a:ln w="86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2450" tIns="82450" rIns="82450" bIns="824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3">
                <a:latin typeface="Asta Sans"/>
                <a:ea typeface="Asta Sans"/>
                <a:cs typeface="Asta Sans"/>
                <a:sym typeface="Asta Sans"/>
              </a:rPr>
              <a:t>output.write()</a:t>
            </a:r>
            <a:endParaRPr sz="1803">
              <a:latin typeface="Asta Sans"/>
              <a:ea typeface="Asta Sans"/>
              <a:cs typeface="Asta Sans"/>
              <a:sym typeface="Asta Sans"/>
            </a:endParaRPr>
          </a:p>
        </p:txBody>
      </p:sp>
      <p:sp>
        <p:nvSpPr>
          <p:cNvPr id="229" name="Google Shape;229;g3f4729efffc_2_437"/>
          <p:cNvSpPr txBox="1"/>
          <p:nvPr/>
        </p:nvSpPr>
        <p:spPr>
          <a:xfrm>
            <a:off x="7795010" y="5975283"/>
            <a:ext cx="1866900" cy="40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450" tIns="82450" rIns="82450" bIns="82450" anchor="t" anchorCtr="0">
            <a:spAutoFit/>
          </a:bodyPr>
          <a:lstStyle/>
          <a:p>
            <a:pPr marL="137423" marR="137423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33" b="1">
                <a:solidFill>
                  <a:srgbClr val="1F2328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   Stub</a:t>
            </a:r>
            <a:endParaRPr sz="1533">
              <a:solidFill>
                <a:srgbClr val="1F2328"/>
              </a:solidFill>
              <a:highlight>
                <a:srgbClr val="F6F8FA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30" name="Google Shape;230;g3f4729efffc_2_437"/>
          <p:cNvSpPr txBox="1"/>
          <p:nvPr/>
        </p:nvSpPr>
        <p:spPr>
          <a:xfrm>
            <a:off x="1332635" y="5975283"/>
            <a:ext cx="1866900" cy="40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450" tIns="82450" rIns="82450" bIns="82450" anchor="t" anchorCtr="0">
            <a:spAutoFit/>
          </a:bodyPr>
          <a:lstStyle/>
          <a:p>
            <a:pPr marL="137423" marR="137423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33" b="1">
                <a:solidFill>
                  <a:srgbClr val="1F2328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to console</a:t>
            </a:r>
            <a:endParaRPr sz="1533">
              <a:solidFill>
                <a:srgbClr val="1F2328"/>
              </a:solidFill>
              <a:highlight>
                <a:srgbClr val="F6F8FA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31" name="Google Shape;231;g3f4729efffc_2_437"/>
          <p:cNvSpPr txBox="1"/>
          <p:nvPr/>
        </p:nvSpPr>
        <p:spPr>
          <a:xfrm>
            <a:off x="3494710" y="5975283"/>
            <a:ext cx="1866900" cy="40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450" tIns="82450" rIns="82450" bIns="82450" anchor="t" anchorCtr="0">
            <a:spAutoFit/>
          </a:bodyPr>
          <a:lstStyle/>
          <a:p>
            <a:pPr marL="137423" marR="137423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33" b="1">
                <a:solidFill>
                  <a:srgbClr val="1F2328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to stream</a:t>
            </a:r>
            <a:endParaRPr sz="1533">
              <a:solidFill>
                <a:srgbClr val="1F2328"/>
              </a:solidFill>
              <a:highlight>
                <a:srgbClr val="F6F8FA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32" name="Google Shape;232;g3f4729efffc_2_437"/>
          <p:cNvSpPr txBox="1"/>
          <p:nvPr/>
        </p:nvSpPr>
        <p:spPr>
          <a:xfrm>
            <a:off x="5656785" y="5975283"/>
            <a:ext cx="1866900" cy="40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450" tIns="82450" rIns="82450" bIns="82450" anchor="t" anchorCtr="0">
            <a:spAutoFit/>
          </a:bodyPr>
          <a:lstStyle/>
          <a:p>
            <a:pPr marL="137423" marR="137423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33" b="1">
                <a:solidFill>
                  <a:srgbClr val="1F2328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do nothing</a:t>
            </a:r>
            <a:endParaRPr sz="1533">
              <a:solidFill>
                <a:srgbClr val="1F2328"/>
              </a:solidFill>
              <a:highlight>
                <a:srgbClr val="F6F8FA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f44738b4e9_0_5"/>
          <p:cNvSpPr txBox="1">
            <a:spLocks noGrp="1"/>
          </p:cNvSpPr>
          <p:nvPr>
            <p:ph type="body" idx="1"/>
          </p:nvPr>
        </p:nvSpPr>
        <p:spPr>
          <a:xfrm>
            <a:off x="1632000" y="1860184"/>
            <a:ext cx="8928000" cy="253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ko-KR" sz="4000">
                <a:latin typeface="Asta Sans"/>
                <a:ea typeface="Asta Sans"/>
                <a:cs typeface="Asta Sans"/>
                <a:sym typeface="Asta Sans"/>
              </a:rPr>
              <a:t>BP 사례 소개</a:t>
            </a:r>
            <a:endParaRPr sz="4000">
              <a:latin typeface="Asta Sans"/>
              <a:ea typeface="Asta Sans"/>
              <a:cs typeface="Asta Sans"/>
              <a:sym typeface="Asta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f44738b4e9_0_9"/>
          <p:cNvSpPr txBox="1">
            <a:spLocks noGrp="1"/>
          </p:cNvSpPr>
          <p:nvPr>
            <p:ph type="title"/>
          </p:nvPr>
        </p:nvSpPr>
        <p:spPr>
          <a:xfrm>
            <a:off x="605980" y="310143"/>
            <a:ext cx="10515600" cy="6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ko-KR" sz="3200" b="1">
                <a:latin typeface="Asta Sans"/>
                <a:ea typeface="Asta Sans"/>
                <a:cs typeface="Asta Sans"/>
                <a:sym typeface="Asta Sans"/>
              </a:rPr>
              <a:t> 개요</a:t>
            </a:r>
            <a:endParaRPr>
              <a:latin typeface="Asta Sans"/>
              <a:ea typeface="Asta Sans"/>
              <a:cs typeface="Asta Sans"/>
              <a:sym typeface="Asta Sans"/>
            </a:endParaRPr>
          </a:p>
        </p:txBody>
      </p:sp>
      <p:sp>
        <p:nvSpPr>
          <p:cNvPr id="243" name="Google Shape;243;g3f44738b4e9_0_9"/>
          <p:cNvSpPr txBox="1">
            <a:spLocks noGrp="1"/>
          </p:cNvSpPr>
          <p:nvPr>
            <p:ph type="body" idx="1"/>
          </p:nvPr>
        </p:nvSpPr>
        <p:spPr>
          <a:xfrm>
            <a:off x="605980" y="1316376"/>
            <a:ext cx="10515600" cy="492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SzPts val="2600"/>
              <a:buFont typeface="Asta Sans"/>
              <a:buAutoNum type="arabicPeriod"/>
            </a:pPr>
            <a:r>
              <a:rPr lang="ko-KR">
                <a:latin typeface="Asta Sans"/>
                <a:ea typeface="Asta Sans"/>
                <a:cs typeface="Asta Sans"/>
                <a:sym typeface="Asta Sans"/>
              </a:rPr>
              <a:t>CodeFab_TeamD 협업 Workflow</a:t>
            </a:r>
            <a:endParaRPr sz="3000">
              <a:latin typeface="Asta Sans"/>
              <a:ea typeface="Asta Sans"/>
              <a:cs typeface="Asta Sans"/>
              <a:sym typeface="Asta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sta Sans"/>
              <a:ea typeface="Asta Sans"/>
              <a:cs typeface="Asta Sans"/>
              <a:sym typeface="Asta Sans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sta Sans"/>
              <a:buAutoNum type="arabicPeriod"/>
            </a:pPr>
            <a:r>
              <a:rPr lang="ko-KR">
                <a:latin typeface="Asta Sans"/>
                <a:ea typeface="Asta Sans"/>
                <a:cs typeface="Asta Sans"/>
                <a:sym typeface="Asta Sans"/>
              </a:rPr>
              <a:t>Pull Request 포맷 고정</a:t>
            </a:r>
            <a:endParaRPr>
              <a:latin typeface="Asta Sans"/>
              <a:ea typeface="Asta Sans"/>
              <a:cs typeface="Asta Sans"/>
              <a:sym typeface="Asta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sta Sans"/>
              <a:ea typeface="Asta Sans"/>
              <a:cs typeface="Asta Sans"/>
              <a:sym typeface="Asta Sans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sta Sans"/>
              <a:buAutoNum type="arabicPeriod"/>
            </a:pPr>
            <a:r>
              <a:rPr lang="ko-KR">
                <a:latin typeface="Asta Sans"/>
                <a:ea typeface="Asta Sans"/>
                <a:cs typeface="Asta Sans"/>
                <a:sym typeface="Asta Sans"/>
              </a:rPr>
              <a:t>Pull Request 봇 사용</a:t>
            </a:r>
            <a:endParaRPr>
              <a:latin typeface="Asta Sans"/>
              <a:ea typeface="Asta Sans"/>
              <a:cs typeface="Asta Sans"/>
              <a:sym typeface="Asta Sa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sta Sans"/>
              <a:ea typeface="Asta Sans"/>
              <a:cs typeface="Asta Sans"/>
              <a:sym typeface="Asta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sta Sans"/>
              <a:ea typeface="Asta Sans"/>
              <a:cs typeface="Asta Sans"/>
              <a:sym typeface="Asta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f4729efffc_14_1"/>
          <p:cNvSpPr txBox="1">
            <a:spLocks noGrp="1"/>
          </p:cNvSpPr>
          <p:nvPr>
            <p:ph type="title"/>
          </p:nvPr>
        </p:nvSpPr>
        <p:spPr>
          <a:xfrm>
            <a:off x="605980" y="310143"/>
            <a:ext cx="10515600" cy="649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200" b="1">
                <a:solidFill>
                  <a:srgbClr val="0E2841"/>
                </a:solidFill>
                <a:latin typeface="Asta Sans"/>
                <a:ea typeface="Asta Sans"/>
                <a:cs typeface="Asta Sans"/>
                <a:sym typeface="Asta Sans"/>
              </a:rPr>
              <a:t>CodeFab_TeamD 협업 Workflow</a:t>
            </a:r>
            <a:endParaRPr sz="5000">
              <a:latin typeface="Asta Sans"/>
              <a:ea typeface="Asta Sans"/>
              <a:cs typeface="Asta Sans"/>
              <a:sym typeface="Asta Sans"/>
            </a:endParaRPr>
          </a:p>
        </p:txBody>
      </p:sp>
      <p:sp>
        <p:nvSpPr>
          <p:cNvPr id="249" name="Google Shape;249;g3f4729efffc_14_1"/>
          <p:cNvSpPr txBox="1"/>
          <p:nvPr/>
        </p:nvSpPr>
        <p:spPr>
          <a:xfrm>
            <a:off x="303038" y="1345669"/>
            <a:ext cx="5941200" cy="34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00" tIns="49500" rIns="99000" bIns="495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16" b="1" i="0" u="none" strike="noStrike" cap="none">
                <a:solidFill>
                  <a:srgbClr val="156082"/>
                </a:solidFill>
                <a:latin typeface="Asta Sans"/>
                <a:ea typeface="Asta Sans"/>
                <a:cs typeface="Asta Sans"/>
                <a:sym typeface="Asta Sans"/>
              </a:rPr>
              <a:t>기본 기능 구현</a:t>
            </a:r>
            <a:endParaRPr sz="1616">
              <a:latin typeface="Asta Sans"/>
              <a:ea typeface="Asta Sans"/>
              <a:cs typeface="Asta Sans"/>
              <a:sym typeface="Asta Sans"/>
            </a:endParaRPr>
          </a:p>
        </p:txBody>
      </p:sp>
      <p:sp>
        <p:nvSpPr>
          <p:cNvPr id="250" name="Google Shape;250;g3f4729efffc_14_1"/>
          <p:cNvSpPr/>
          <p:nvPr/>
        </p:nvSpPr>
        <p:spPr>
          <a:xfrm>
            <a:off x="303038" y="1673973"/>
            <a:ext cx="2158800" cy="1287000"/>
          </a:xfrm>
          <a:prstGeom prst="roundRect">
            <a:avLst>
              <a:gd name="adj" fmla="val 8000"/>
            </a:avLst>
          </a:prstGeom>
          <a:solidFill>
            <a:srgbClr val="F2F6F9"/>
          </a:solidFill>
          <a:ln w="10325" cap="flat" cmpd="sng">
            <a:solidFill>
              <a:srgbClr val="1560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8825" tIns="69300" rIns="118825" bIns="495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54" b="1" i="0" u="none" strike="noStrike" cap="none">
                <a:solidFill>
                  <a:srgbClr val="156082"/>
                </a:solidFill>
                <a:latin typeface="Asta Sans"/>
                <a:ea typeface="Asta Sans"/>
                <a:cs typeface="Asta Sans"/>
                <a:sym typeface="Asta Sans"/>
              </a:rPr>
              <a:t>Prep</a:t>
            </a:r>
            <a:endParaRPr sz="1616">
              <a:latin typeface="Asta Sans"/>
              <a:ea typeface="Asta Sans"/>
              <a:cs typeface="Asta Sans"/>
              <a:sym typeface="Ast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62"/>
              </a:spcBef>
              <a:spcAft>
                <a:spcPts val="0"/>
              </a:spcAft>
              <a:buNone/>
            </a:pPr>
            <a:r>
              <a:rPr lang="ko-KR" sz="1075">
                <a:solidFill>
                  <a:srgbClr val="404040"/>
                </a:solidFill>
                <a:latin typeface="Asta Sans"/>
                <a:ea typeface="Asta Sans"/>
                <a:cs typeface="Asta Sans"/>
                <a:sym typeface="Asta Sans"/>
              </a:rPr>
              <a:t>모듈별 인터페이스</a:t>
            </a:r>
            <a:endParaRPr sz="1075" i="0" u="none" strike="noStrike" cap="none">
              <a:solidFill>
                <a:srgbClr val="404040"/>
              </a:solidFill>
              <a:latin typeface="Asta Sans"/>
              <a:ea typeface="Asta Sans"/>
              <a:cs typeface="Asta Sans"/>
              <a:sym typeface="Ast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62"/>
              </a:spcBef>
              <a:spcAft>
                <a:spcPts val="0"/>
              </a:spcAft>
              <a:buNone/>
            </a:pPr>
            <a:r>
              <a:rPr lang="ko-KR" sz="1075" i="0" u="none" strike="noStrike" cap="none">
                <a:solidFill>
                  <a:srgbClr val="404040"/>
                </a:solidFill>
                <a:latin typeface="Asta Sans"/>
                <a:ea typeface="Asta Sans"/>
                <a:cs typeface="Asta Sans"/>
                <a:sym typeface="Asta Sans"/>
              </a:rPr>
              <a:t>unit-io-spec.md /</a:t>
            </a:r>
            <a:endParaRPr sz="1616">
              <a:latin typeface="Asta Sans"/>
              <a:ea typeface="Asta Sans"/>
              <a:cs typeface="Asta Sans"/>
              <a:sym typeface="Ast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62"/>
              </a:spcBef>
              <a:spcAft>
                <a:spcPts val="0"/>
              </a:spcAft>
              <a:buNone/>
            </a:pPr>
            <a:r>
              <a:rPr lang="ko-KR" sz="1075" i="0" u="none" strike="noStrike" cap="none">
                <a:solidFill>
                  <a:srgbClr val="404040"/>
                </a:solidFill>
                <a:latin typeface="Asta Sans"/>
                <a:ea typeface="Asta Sans"/>
                <a:cs typeface="Asta Sans"/>
                <a:sym typeface="Asta Sans"/>
              </a:rPr>
              <a:t>program-tree-struct-spec.md 초안</a:t>
            </a:r>
            <a:endParaRPr sz="1075" i="0" u="none" strike="noStrike" cap="none">
              <a:solidFill>
                <a:srgbClr val="404040"/>
              </a:solidFill>
              <a:latin typeface="Asta Sans"/>
              <a:ea typeface="Asta Sans"/>
              <a:cs typeface="Asta Sans"/>
              <a:sym typeface="Asta Sans"/>
            </a:endParaRPr>
          </a:p>
        </p:txBody>
      </p:sp>
      <p:sp>
        <p:nvSpPr>
          <p:cNvPr id="251" name="Google Shape;251;g3f4729efffc_14_1"/>
          <p:cNvSpPr/>
          <p:nvPr/>
        </p:nvSpPr>
        <p:spPr>
          <a:xfrm>
            <a:off x="2659821" y="1673973"/>
            <a:ext cx="2158800" cy="1287000"/>
          </a:xfrm>
          <a:prstGeom prst="roundRect">
            <a:avLst>
              <a:gd name="adj" fmla="val 8000"/>
            </a:avLst>
          </a:prstGeom>
          <a:solidFill>
            <a:srgbClr val="F2F6F9"/>
          </a:solidFill>
          <a:ln w="10325" cap="flat" cmpd="sng">
            <a:solidFill>
              <a:srgbClr val="1560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8825" tIns="69300" rIns="118825" bIns="495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54" b="1" i="0" u="none" strike="noStrike" cap="none">
                <a:solidFill>
                  <a:srgbClr val="156082"/>
                </a:solidFill>
                <a:latin typeface="Asta Sans"/>
                <a:ea typeface="Asta Sans"/>
                <a:cs typeface="Asta Sans"/>
                <a:sym typeface="Asta Sans"/>
              </a:rPr>
              <a:t>Roles</a:t>
            </a:r>
            <a:endParaRPr sz="1616">
              <a:latin typeface="Asta Sans"/>
              <a:ea typeface="Asta Sans"/>
              <a:cs typeface="Asta Sans"/>
              <a:sym typeface="Ast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62"/>
              </a:spcBef>
              <a:spcAft>
                <a:spcPts val="0"/>
              </a:spcAft>
              <a:buNone/>
            </a:pPr>
            <a:r>
              <a:rPr lang="ko-KR" sz="1075" i="0" u="none" strike="noStrike" cap="none">
                <a:solidFill>
                  <a:srgbClr val="404040"/>
                </a:solidFill>
                <a:latin typeface="Asta Sans"/>
                <a:ea typeface="Asta Sans"/>
                <a:cs typeface="Asta Sans"/>
                <a:sym typeface="Asta Sans"/>
              </a:rPr>
              <a:t>5인 R&amp;R 확정</a:t>
            </a:r>
            <a:endParaRPr sz="1616">
              <a:latin typeface="Asta Sans"/>
              <a:ea typeface="Asta Sans"/>
              <a:cs typeface="Asta Sans"/>
              <a:sym typeface="Ast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62"/>
              </a:spcBef>
              <a:spcAft>
                <a:spcPts val="0"/>
              </a:spcAft>
              <a:buNone/>
            </a:pPr>
            <a:r>
              <a:rPr lang="ko-KR" sz="1075" i="0" u="none" strike="noStrike" cap="none">
                <a:solidFill>
                  <a:srgbClr val="404040"/>
                </a:solidFill>
                <a:latin typeface="Asta Sans"/>
                <a:ea typeface="Asta Sans"/>
                <a:cs typeface="Asta Sans"/>
                <a:sym typeface="Asta Sans"/>
              </a:rPr>
              <a:t>Lee-Checker, Park-Assembler,</a:t>
            </a:r>
            <a:endParaRPr sz="1616">
              <a:latin typeface="Asta Sans"/>
              <a:ea typeface="Asta Sans"/>
              <a:cs typeface="Asta Sans"/>
              <a:sym typeface="Ast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62"/>
              </a:spcBef>
              <a:spcAft>
                <a:spcPts val="0"/>
              </a:spcAft>
              <a:buNone/>
            </a:pPr>
            <a:r>
              <a:rPr lang="ko-KR" sz="1075" i="0" u="none" strike="noStrike" cap="none">
                <a:solidFill>
                  <a:srgbClr val="404040"/>
                </a:solidFill>
                <a:latin typeface="Asta Sans"/>
                <a:ea typeface="Asta Sans"/>
                <a:cs typeface="Asta Sans"/>
                <a:sym typeface="Asta Sans"/>
              </a:rPr>
              <a:t>Hong/Ryu-Executor, Kwon-Env</a:t>
            </a:r>
            <a:endParaRPr sz="1616">
              <a:latin typeface="Asta Sans"/>
              <a:ea typeface="Asta Sans"/>
              <a:cs typeface="Asta Sans"/>
              <a:sym typeface="Asta Sans"/>
            </a:endParaRPr>
          </a:p>
        </p:txBody>
      </p:sp>
      <p:sp>
        <p:nvSpPr>
          <p:cNvPr id="252" name="Google Shape;252;g3f4729efffc_14_1"/>
          <p:cNvSpPr/>
          <p:nvPr/>
        </p:nvSpPr>
        <p:spPr>
          <a:xfrm>
            <a:off x="5016605" y="1673973"/>
            <a:ext cx="2158800" cy="1287000"/>
          </a:xfrm>
          <a:prstGeom prst="roundRect">
            <a:avLst>
              <a:gd name="adj" fmla="val 8000"/>
            </a:avLst>
          </a:prstGeom>
          <a:solidFill>
            <a:srgbClr val="F2F6F9"/>
          </a:solidFill>
          <a:ln w="10325" cap="flat" cmpd="sng">
            <a:solidFill>
              <a:srgbClr val="1560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8825" tIns="69300" rIns="118825" bIns="495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54" b="1" i="0" u="none" strike="noStrike" cap="none">
                <a:solidFill>
                  <a:srgbClr val="156082"/>
                </a:solidFill>
                <a:latin typeface="Asta Sans"/>
                <a:ea typeface="Asta Sans"/>
                <a:cs typeface="Asta Sans"/>
                <a:sym typeface="Asta Sans"/>
              </a:rPr>
              <a:t>Review</a:t>
            </a:r>
            <a:endParaRPr sz="1616">
              <a:latin typeface="Asta Sans"/>
              <a:ea typeface="Asta Sans"/>
              <a:cs typeface="Asta Sans"/>
              <a:sym typeface="Ast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62"/>
              </a:spcBef>
              <a:spcAft>
                <a:spcPts val="0"/>
              </a:spcAft>
              <a:buNone/>
            </a:pPr>
            <a:r>
              <a:rPr lang="ko-KR" sz="1075">
                <a:solidFill>
                  <a:srgbClr val="404040"/>
                </a:solidFill>
                <a:latin typeface="Asta Sans"/>
                <a:ea typeface="Asta Sans"/>
                <a:cs typeface="Asta Sans"/>
                <a:sym typeface="Asta Sans"/>
              </a:rPr>
              <a:t>인터페이스 스펙</a:t>
            </a:r>
            <a:endParaRPr sz="1075">
              <a:solidFill>
                <a:srgbClr val="404040"/>
              </a:solidFill>
              <a:latin typeface="Asta Sans"/>
              <a:ea typeface="Asta Sans"/>
              <a:cs typeface="Asta Sans"/>
              <a:sym typeface="Asta Sans"/>
            </a:endParaRPr>
          </a:p>
          <a:p>
            <a:pPr marL="0" lvl="0" indent="0" algn="l" rtl="0">
              <a:spcBef>
                <a:spcPts val="162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ko-KR" sz="1075">
                <a:solidFill>
                  <a:srgbClr val="404040"/>
                </a:solidFill>
                <a:latin typeface="Asta Sans"/>
                <a:ea typeface="Asta Sans"/>
                <a:cs typeface="Asta Sans"/>
                <a:sym typeface="Asta Sans"/>
              </a:rPr>
              <a:t>합동 리뷰로 확정</a:t>
            </a:r>
            <a:endParaRPr sz="1075">
              <a:solidFill>
                <a:srgbClr val="404040"/>
              </a:solidFill>
              <a:latin typeface="Asta Sans"/>
              <a:ea typeface="Asta Sans"/>
              <a:cs typeface="Asta Sans"/>
              <a:sym typeface="Ast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62"/>
              </a:spcBef>
              <a:spcAft>
                <a:spcPts val="0"/>
              </a:spcAft>
              <a:buNone/>
            </a:pPr>
            <a:r>
              <a:rPr lang="ko-KR" sz="1075">
                <a:solidFill>
                  <a:srgbClr val="404040"/>
                </a:solidFill>
                <a:latin typeface="Asta Sans"/>
                <a:ea typeface="Asta Sans"/>
                <a:cs typeface="Asta Sans"/>
                <a:sym typeface="Asta Sans"/>
              </a:rPr>
              <a:t>(</a:t>
            </a:r>
            <a:r>
              <a:rPr lang="ko-KR" sz="1075" i="0" u="none" strike="noStrike" cap="none">
                <a:solidFill>
                  <a:srgbClr val="404040"/>
                </a:solidFill>
                <a:latin typeface="Asta Sans"/>
                <a:ea typeface="Asta Sans"/>
                <a:cs typeface="Asta Sans"/>
                <a:sym typeface="Asta Sans"/>
              </a:rPr>
              <a:t>unit-io-spec.md /</a:t>
            </a:r>
            <a:endParaRPr sz="1616">
              <a:latin typeface="Asta Sans"/>
              <a:ea typeface="Asta Sans"/>
              <a:cs typeface="Asta Sans"/>
              <a:sym typeface="Ast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62"/>
              </a:spcBef>
              <a:spcAft>
                <a:spcPts val="0"/>
              </a:spcAft>
              <a:buNone/>
            </a:pPr>
            <a:r>
              <a:rPr lang="ko-KR" sz="1075" i="0" u="none" strike="noStrike" cap="none">
                <a:solidFill>
                  <a:srgbClr val="404040"/>
                </a:solidFill>
                <a:latin typeface="Asta Sans"/>
                <a:ea typeface="Asta Sans"/>
                <a:cs typeface="Asta Sans"/>
                <a:sym typeface="Asta Sans"/>
              </a:rPr>
              <a:t>program-tree-struct-spec.md)</a:t>
            </a:r>
            <a:endParaRPr sz="1616">
              <a:latin typeface="Asta Sans"/>
              <a:ea typeface="Asta Sans"/>
              <a:cs typeface="Asta Sans"/>
              <a:sym typeface="Asta Sans"/>
            </a:endParaRPr>
          </a:p>
        </p:txBody>
      </p:sp>
      <p:sp>
        <p:nvSpPr>
          <p:cNvPr id="253" name="Google Shape;253;g3f4729efffc_14_1"/>
          <p:cNvSpPr/>
          <p:nvPr/>
        </p:nvSpPr>
        <p:spPr>
          <a:xfrm>
            <a:off x="7373389" y="1673973"/>
            <a:ext cx="2158800" cy="1287000"/>
          </a:xfrm>
          <a:prstGeom prst="roundRect">
            <a:avLst>
              <a:gd name="adj" fmla="val 8000"/>
            </a:avLst>
          </a:prstGeom>
          <a:solidFill>
            <a:srgbClr val="F2F6F9"/>
          </a:solidFill>
          <a:ln w="10325" cap="flat" cmpd="sng">
            <a:solidFill>
              <a:srgbClr val="1560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8825" tIns="69300" rIns="118825" bIns="495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54" b="1" i="0" u="none" strike="noStrike" cap="none">
                <a:solidFill>
                  <a:srgbClr val="156082"/>
                </a:solidFill>
                <a:latin typeface="Asta Sans"/>
                <a:ea typeface="Asta Sans"/>
                <a:cs typeface="Asta Sans"/>
                <a:sym typeface="Asta Sans"/>
              </a:rPr>
              <a:t>Sync</a:t>
            </a:r>
            <a:endParaRPr sz="1616">
              <a:latin typeface="Asta Sans"/>
              <a:ea typeface="Asta Sans"/>
              <a:cs typeface="Asta Sans"/>
              <a:sym typeface="Ast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62"/>
              </a:spcBef>
              <a:spcAft>
                <a:spcPts val="0"/>
              </a:spcAft>
              <a:buNone/>
            </a:pPr>
            <a:r>
              <a:rPr lang="ko-KR" sz="1075" i="0" u="none" strike="noStrike" cap="none">
                <a:solidFill>
                  <a:srgbClr val="404040"/>
                </a:solidFill>
                <a:latin typeface="Asta Sans"/>
                <a:ea typeface="Asta Sans"/>
                <a:cs typeface="Asta Sans"/>
                <a:sym typeface="Asta Sans"/>
              </a:rPr>
              <a:t>공통 AST/enum stub</a:t>
            </a:r>
            <a:endParaRPr sz="1616">
              <a:latin typeface="Asta Sans"/>
              <a:ea typeface="Asta Sans"/>
              <a:cs typeface="Asta Sans"/>
              <a:sym typeface="Ast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62"/>
              </a:spcBef>
              <a:spcAft>
                <a:spcPts val="0"/>
              </a:spcAft>
              <a:buNone/>
            </a:pPr>
            <a:r>
              <a:rPr lang="ko-KR" sz="1075" i="0" u="none" strike="noStrike" cap="none">
                <a:solidFill>
                  <a:srgbClr val="404040"/>
                </a:solidFill>
                <a:latin typeface="Asta Sans"/>
                <a:ea typeface="Asta Sans"/>
                <a:cs typeface="Asta Sans"/>
                <a:sym typeface="Asta Sans"/>
              </a:rPr>
              <a:t>구현 &amp; PR 병합으로</a:t>
            </a:r>
            <a:endParaRPr sz="1616">
              <a:latin typeface="Asta Sans"/>
              <a:ea typeface="Asta Sans"/>
              <a:cs typeface="Asta Sans"/>
              <a:sym typeface="Ast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62"/>
              </a:spcBef>
              <a:spcAft>
                <a:spcPts val="0"/>
              </a:spcAft>
              <a:buNone/>
            </a:pPr>
            <a:r>
              <a:rPr lang="ko-KR" sz="1075" i="0" u="none" strike="noStrike" cap="none">
                <a:solidFill>
                  <a:srgbClr val="404040"/>
                </a:solidFill>
                <a:latin typeface="Asta Sans"/>
                <a:ea typeface="Asta Sans"/>
                <a:cs typeface="Asta Sans"/>
                <a:sym typeface="Asta Sans"/>
              </a:rPr>
              <a:t>베이스라인 확정</a:t>
            </a:r>
            <a:endParaRPr sz="1616">
              <a:latin typeface="Asta Sans"/>
              <a:ea typeface="Asta Sans"/>
              <a:cs typeface="Asta Sans"/>
              <a:sym typeface="Asta Sans"/>
            </a:endParaRPr>
          </a:p>
        </p:txBody>
      </p:sp>
      <p:sp>
        <p:nvSpPr>
          <p:cNvPr id="254" name="Google Shape;254;g3f4729efffc_14_1"/>
          <p:cNvSpPr/>
          <p:nvPr/>
        </p:nvSpPr>
        <p:spPr>
          <a:xfrm>
            <a:off x="9730172" y="1673973"/>
            <a:ext cx="2158800" cy="1287000"/>
          </a:xfrm>
          <a:prstGeom prst="roundRect">
            <a:avLst>
              <a:gd name="adj" fmla="val 8000"/>
            </a:avLst>
          </a:prstGeom>
          <a:solidFill>
            <a:srgbClr val="F2F6F9"/>
          </a:solidFill>
          <a:ln w="20625" cap="flat" cmpd="sng">
            <a:solidFill>
              <a:srgbClr val="1560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8825" tIns="69300" rIns="118825" bIns="495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54" b="1" i="0" u="none" strike="noStrike" cap="none">
                <a:solidFill>
                  <a:srgbClr val="156082"/>
                </a:solidFill>
                <a:latin typeface="Asta Sans"/>
                <a:ea typeface="Asta Sans"/>
                <a:cs typeface="Asta Sans"/>
                <a:sym typeface="Asta Sans"/>
              </a:rPr>
              <a:t>Parallel</a:t>
            </a:r>
            <a:endParaRPr sz="1616">
              <a:latin typeface="Asta Sans"/>
              <a:ea typeface="Asta Sans"/>
              <a:cs typeface="Asta Sans"/>
              <a:sym typeface="Ast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62"/>
              </a:spcBef>
              <a:spcAft>
                <a:spcPts val="0"/>
              </a:spcAft>
              <a:buNone/>
            </a:pPr>
            <a:r>
              <a:rPr lang="ko-KR" sz="1075" i="0" u="none" strike="noStrike" cap="none">
                <a:solidFill>
                  <a:srgbClr val="404040"/>
                </a:solidFill>
                <a:latin typeface="Asta Sans"/>
                <a:ea typeface="Asta Sans"/>
                <a:cs typeface="Asta Sans"/>
                <a:sym typeface="Asta Sans"/>
              </a:rPr>
              <a:t>Assembler/Checker/</a:t>
            </a:r>
            <a:endParaRPr sz="1616">
              <a:latin typeface="Asta Sans"/>
              <a:ea typeface="Asta Sans"/>
              <a:cs typeface="Asta Sans"/>
              <a:sym typeface="Ast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62"/>
              </a:spcBef>
              <a:spcAft>
                <a:spcPts val="0"/>
              </a:spcAft>
              <a:buNone/>
            </a:pPr>
            <a:r>
              <a:rPr lang="ko-KR" sz="1075" i="0" u="none" strike="noStrike" cap="none">
                <a:solidFill>
                  <a:srgbClr val="404040"/>
                </a:solidFill>
                <a:latin typeface="Asta Sans"/>
                <a:ea typeface="Asta Sans"/>
                <a:cs typeface="Asta Sans"/>
                <a:sym typeface="Asta Sans"/>
              </a:rPr>
              <a:t>Executor 각자 TDD</a:t>
            </a:r>
            <a:endParaRPr sz="1616">
              <a:latin typeface="Asta Sans"/>
              <a:ea typeface="Asta Sans"/>
              <a:cs typeface="Asta Sans"/>
              <a:sym typeface="Ast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62"/>
              </a:spcBef>
              <a:spcAft>
                <a:spcPts val="0"/>
              </a:spcAft>
              <a:buNone/>
            </a:pPr>
            <a:r>
              <a:rPr lang="ko-KR" sz="1075" i="0" u="none" strike="noStrike" cap="none">
                <a:solidFill>
                  <a:srgbClr val="404040"/>
                </a:solidFill>
                <a:latin typeface="Asta Sans"/>
                <a:ea typeface="Asta Sans"/>
                <a:cs typeface="Asta Sans"/>
                <a:sym typeface="Asta Sans"/>
              </a:rPr>
              <a:t>Red-Green 독립 구현</a:t>
            </a:r>
            <a:endParaRPr sz="1616">
              <a:latin typeface="Asta Sans"/>
              <a:ea typeface="Asta Sans"/>
              <a:cs typeface="Asta Sans"/>
              <a:sym typeface="Asta Sans"/>
            </a:endParaRPr>
          </a:p>
        </p:txBody>
      </p:sp>
      <p:sp>
        <p:nvSpPr>
          <p:cNvPr id="255" name="Google Shape;255;g3f4729efffc_14_1"/>
          <p:cNvSpPr/>
          <p:nvPr/>
        </p:nvSpPr>
        <p:spPr>
          <a:xfrm>
            <a:off x="1590356" y="3208855"/>
            <a:ext cx="1940700" cy="1587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56082"/>
          </a:solidFill>
          <a:ln>
            <a:noFill/>
          </a:ln>
        </p:spPr>
        <p:txBody>
          <a:bodyPr spcFirstLastPara="1" wrap="square" lIns="99000" tIns="49500" rIns="99000" bIns="495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16" i="0" u="none" strike="noStrike" cap="none">
              <a:solidFill>
                <a:srgbClr val="FFFFFF"/>
              </a:solidFill>
              <a:latin typeface="Asta Sans"/>
              <a:ea typeface="Asta Sans"/>
              <a:cs typeface="Asta Sans"/>
              <a:sym typeface="Asta Sans"/>
            </a:endParaRPr>
          </a:p>
        </p:txBody>
      </p:sp>
      <p:sp>
        <p:nvSpPr>
          <p:cNvPr id="256" name="Google Shape;256;g3f4729efffc_14_1"/>
          <p:cNvSpPr/>
          <p:nvPr/>
        </p:nvSpPr>
        <p:spPr>
          <a:xfrm>
            <a:off x="3947140" y="3208855"/>
            <a:ext cx="1940700" cy="1587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56082"/>
          </a:solidFill>
          <a:ln>
            <a:noFill/>
          </a:ln>
        </p:spPr>
        <p:txBody>
          <a:bodyPr spcFirstLastPara="1" wrap="square" lIns="99000" tIns="49500" rIns="99000" bIns="495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16" i="0" u="none" strike="noStrike" cap="none">
              <a:solidFill>
                <a:srgbClr val="FFFFFF"/>
              </a:solidFill>
              <a:latin typeface="Asta Sans"/>
              <a:ea typeface="Asta Sans"/>
              <a:cs typeface="Asta Sans"/>
              <a:sym typeface="Asta Sans"/>
            </a:endParaRPr>
          </a:p>
        </p:txBody>
      </p:sp>
      <p:sp>
        <p:nvSpPr>
          <p:cNvPr id="257" name="Google Shape;257;g3f4729efffc_14_1"/>
          <p:cNvSpPr/>
          <p:nvPr/>
        </p:nvSpPr>
        <p:spPr>
          <a:xfrm>
            <a:off x="6303924" y="3208855"/>
            <a:ext cx="1940700" cy="1587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56082"/>
          </a:solidFill>
          <a:ln>
            <a:noFill/>
          </a:ln>
        </p:spPr>
        <p:txBody>
          <a:bodyPr spcFirstLastPara="1" wrap="square" lIns="99000" tIns="49500" rIns="99000" bIns="495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16" i="0" u="none" strike="noStrike" cap="none">
              <a:solidFill>
                <a:srgbClr val="FFFFFF"/>
              </a:solidFill>
              <a:latin typeface="Asta Sans"/>
              <a:ea typeface="Asta Sans"/>
              <a:cs typeface="Asta Sans"/>
              <a:sym typeface="Asta Sans"/>
            </a:endParaRPr>
          </a:p>
        </p:txBody>
      </p:sp>
      <p:sp>
        <p:nvSpPr>
          <p:cNvPr id="258" name="Google Shape;258;g3f4729efffc_14_1"/>
          <p:cNvSpPr/>
          <p:nvPr/>
        </p:nvSpPr>
        <p:spPr>
          <a:xfrm>
            <a:off x="8660707" y="3208855"/>
            <a:ext cx="1940700" cy="1587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56082"/>
          </a:solidFill>
          <a:ln>
            <a:noFill/>
          </a:ln>
        </p:spPr>
        <p:txBody>
          <a:bodyPr spcFirstLastPara="1" wrap="square" lIns="99000" tIns="49500" rIns="99000" bIns="495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16" i="0" u="none" strike="noStrike" cap="none">
              <a:solidFill>
                <a:srgbClr val="FFFFFF"/>
              </a:solidFill>
              <a:latin typeface="Asta Sans"/>
              <a:ea typeface="Asta Sans"/>
              <a:cs typeface="Asta Sans"/>
              <a:sym typeface="Asta Sans"/>
            </a:endParaRPr>
          </a:p>
        </p:txBody>
      </p:sp>
      <p:sp>
        <p:nvSpPr>
          <p:cNvPr id="259" name="Google Shape;259;g3f4729efffc_14_1"/>
          <p:cNvSpPr/>
          <p:nvPr/>
        </p:nvSpPr>
        <p:spPr>
          <a:xfrm>
            <a:off x="1174453" y="3080123"/>
            <a:ext cx="415800" cy="415800"/>
          </a:xfrm>
          <a:prstGeom prst="ellipse">
            <a:avLst/>
          </a:prstGeom>
          <a:solidFill>
            <a:srgbClr val="15608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8" b="1" i="0" u="none" strike="noStrike" cap="none">
                <a:solidFill>
                  <a:srgbClr val="FFFFFF"/>
                </a:solidFill>
                <a:latin typeface="Asta Sans"/>
                <a:ea typeface="Asta Sans"/>
                <a:cs typeface="Asta Sans"/>
                <a:sym typeface="Asta Sans"/>
              </a:rPr>
              <a:t>1</a:t>
            </a:r>
            <a:endParaRPr sz="1616">
              <a:latin typeface="Asta Sans"/>
              <a:ea typeface="Asta Sans"/>
              <a:cs typeface="Asta Sans"/>
              <a:sym typeface="Asta Sans"/>
            </a:endParaRPr>
          </a:p>
        </p:txBody>
      </p:sp>
      <p:sp>
        <p:nvSpPr>
          <p:cNvPr id="260" name="Google Shape;260;g3f4729efffc_14_1"/>
          <p:cNvSpPr txBox="1"/>
          <p:nvPr/>
        </p:nvSpPr>
        <p:spPr>
          <a:xfrm>
            <a:off x="303038" y="3525734"/>
            <a:ext cx="2158800" cy="2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00" tIns="49500" rIns="99000" bIns="495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91" b="1">
                <a:solidFill>
                  <a:srgbClr val="0E2841"/>
                </a:solidFill>
                <a:latin typeface="Asta Sans"/>
                <a:ea typeface="Asta Sans"/>
                <a:cs typeface="Asta Sans"/>
                <a:sym typeface="Asta Sans"/>
              </a:rPr>
              <a:t>초기 spec 작성</a:t>
            </a:r>
            <a:endParaRPr sz="1616">
              <a:latin typeface="Asta Sans"/>
              <a:ea typeface="Asta Sans"/>
              <a:cs typeface="Asta Sans"/>
              <a:sym typeface="Asta Sans"/>
            </a:endParaRPr>
          </a:p>
        </p:txBody>
      </p:sp>
      <p:sp>
        <p:nvSpPr>
          <p:cNvPr id="261" name="Google Shape;261;g3f4729efffc_14_1"/>
          <p:cNvSpPr/>
          <p:nvPr/>
        </p:nvSpPr>
        <p:spPr>
          <a:xfrm>
            <a:off x="3531237" y="3080123"/>
            <a:ext cx="415800" cy="415800"/>
          </a:xfrm>
          <a:prstGeom prst="ellipse">
            <a:avLst/>
          </a:prstGeom>
          <a:solidFill>
            <a:srgbClr val="15608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8" b="1" i="0" u="none" strike="noStrike" cap="none">
                <a:solidFill>
                  <a:srgbClr val="FFFFFF"/>
                </a:solidFill>
                <a:latin typeface="Asta Sans"/>
                <a:ea typeface="Asta Sans"/>
                <a:cs typeface="Asta Sans"/>
                <a:sym typeface="Asta Sans"/>
              </a:rPr>
              <a:t>2</a:t>
            </a:r>
            <a:endParaRPr sz="1616">
              <a:latin typeface="Asta Sans"/>
              <a:ea typeface="Asta Sans"/>
              <a:cs typeface="Asta Sans"/>
              <a:sym typeface="Asta Sans"/>
            </a:endParaRPr>
          </a:p>
        </p:txBody>
      </p:sp>
      <p:sp>
        <p:nvSpPr>
          <p:cNvPr id="262" name="Google Shape;262;g3f4729efffc_14_1"/>
          <p:cNvSpPr txBox="1"/>
          <p:nvPr/>
        </p:nvSpPr>
        <p:spPr>
          <a:xfrm>
            <a:off x="2659821" y="3525734"/>
            <a:ext cx="2158800" cy="2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00" tIns="49500" rIns="99000" bIns="495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91" b="1">
                <a:solidFill>
                  <a:srgbClr val="0E2841"/>
                </a:solidFill>
                <a:latin typeface="Asta Sans"/>
                <a:ea typeface="Asta Sans"/>
                <a:cs typeface="Asta Sans"/>
                <a:sym typeface="Asta Sans"/>
              </a:rPr>
              <a:t>역할 분담</a:t>
            </a:r>
            <a:endParaRPr sz="1616">
              <a:latin typeface="Asta Sans"/>
              <a:ea typeface="Asta Sans"/>
              <a:cs typeface="Asta Sans"/>
              <a:sym typeface="Asta Sans"/>
            </a:endParaRPr>
          </a:p>
        </p:txBody>
      </p:sp>
      <p:sp>
        <p:nvSpPr>
          <p:cNvPr id="263" name="Google Shape;263;g3f4729efffc_14_1"/>
          <p:cNvSpPr/>
          <p:nvPr/>
        </p:nvSpPr>
        <p:spPr>
          <a:xfrm>
            <a:off x="5888021" y="3080123"/>
            <a:ext cx="415800" cy="415800"/>
          </a:xfrm>
          <a:prstGeom prst="ellipse">
            <a:avLst/>
          </a:prstGeom>
          <a:solidFill>
            <a:srgbClr val="15608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8" b="1" i="0" u="none" strike="noStrike" cap="none">
                <a:solidFill>
                  <a:srgbClr val="FFFFFF"/>
                </a:solidFill>
                <a:latin typeface="Asta Sans"/>
                <a:ea typeface="Asta Sans"/>
                <a:cs typeface="Asta Sans"/>
                <a:sym typeface="Asta Sans"/>
              </a:rPr>
              <a:t>3</a:t>
            </a:r>
            <a:endParaRPr sz="1616">
              <a:latin typeface="Asta Sans"/>
              <a:ea typeface="Asta Sans"/>
              <a:cs typeface="Asta Sans"/>
              <a:sym typeface="Asta Sans"/>
            </a:endParaRPr>
          </a:p>
        </p:txBody>
      </p:sp>
      <p:sp>
        <p:nvSpPr>
          <p:cNvPr id="264" name="Google Shape;264;g3f4729efffc_14_1"/>
          <p:cNvSpPr txBox="1"/>
          <p:nvPr/>
        </p:nvSpPr>
        <p:spPr>
          <a:xfrm>
            <a:off x="5016605" y="3525734"/>
            <a:ext cx="2158800" cy="2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00" tIns="49500" rIns="99000" bIns="495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91" b="1" i="0" u="none" strike="noStrike" cap="none">
                <a:solidFill>
                  <a:srgbClr val="0E2841"/>
                </a:solidFill>
                <a:latin typeface="Asta Sans"/>
                <a:ea typeface="Asta Sans"/>
                <a:cs typeface="Asta Sans"/>
                <a:sym typeface="Asta Sans"/>
              </a:rPr>
              <a:t>Spec 확정</a:t>
            </a:r>
            <a:endParaRPr sz="1616">
              <a:latin typeface="Asta Sans"/>
              <a:ea typeface="Asta Sans"/>
              <a:cs typeface="Asta Sans"/>
              <a:sym typeface="Asta Sans"/>
            </a:endParaRPr>
          </a:p>
        </p:txBody>
      </p:sp>
      <p:sp>
        <p:nvSpPr>
          <p:cNvPr id="265" name="Google Shape;265;g3f4729efffc_14_1"/>
          <p:cNvSpPr/>
          <p:nvPr/>
        </p:nvSpPr>
        <p:spPr>
          <a:xfrm>
            <a:off x="8244804" y="3080123"/>
            <a:ext cx="415800" cy="415800"/>
          </a:xfrm>
          <a:prstGeom prst="ellipse">
            <a:avLst/>
          </a:prstGeom>
          <a:solidFill>
            <a:srgbClr val="15608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8" b="1" i="0" u="none" strike="noStrike" cap="none">
                <a:solidFill>
                  <a:srgbClr val="FFFFFF"/>
                </a:solidFill>
                <a:latin typeface="Asta Sans"/>
                <a:ea typeface="Asta Sans"/>
                <a:cs typeface="Asta Sans"/>
                <a:sym typeface="Asta Sans"/>
              </a:rPr>
              <a:t>4</a:t>
            </a:r>
            <a:endParaRPr sz="1616">
              <a:latin typeface="Asta Sans"/>
              <a:ea typeface="Asta Sans"/>
              <a:cs typeface="Asta Sans"/>
              <a:sym typeface="Asta Sans"/>
            </a:endParaRPr>
          </a:p>
        </p:txBody>
      </p:sp>
      <p:sp>
        <p:nvSpPr>
          <p:cNvPr id="266" name="Google Shape;266;g3f4729efffc_14_1"/>
          <p:cNvSpPr txBox="1"/>
          <p:nvPr/>
        </p:nvSpPr>
        <p:spPr>
          <a:xfrm>
            <a:off x="7373389" y="3525734"/>
            <a:ext cx="2158800" cy="2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00" tIns="49500" rIns="99000" bIns="495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91" b="1" i="0" u="none" strike="noStrike" cap="none">
                <a:solidFill>
                  <a:srgbClr val="0E2841"/>
                </a:solidFill>
                <a:latin typeface="Asta Sans"/>
                <a:ea typeface="Asta Sans"/>
                <a:cs typeface="Asta Sans"/>
                <a:sym typeface="Asta Sans"/>
              </a:rPr>
              <a:t>베이스라인 확정</a:t>
            </a:r>
            <a:endParaRPr sz="1616">
              <a:latin typeface="Asta Sans"/>
              <a:ea typeface="Asta Sans"/>
              <a:cs typeface="Asta Sans"/>
              <a:sym typeface="Asta Sans"/>
            </a:endParaRPr>
          </a:p>
        </p:txBody>
      </p:sp>
      <p:sp>
        <p:nvSpPr>
          <p:cNvPr id="267" name="Google Shape;267;g3f4729efffc_14_1"/>
          <p:cNvSpPr/>
          <p:nvPr/>
        </p:nvSpPr>
        <p:spPr>
          <a:xfrm>
            <a:off x="10601588" y="3080123"/>
            <a:ext cx="415800" cy="415800"/>
          </a:xfrm>
          <a:prstGeom prst="ellipse">
            <a:avLst/>
          </a:prstGeom>
          <a:solidFill>
            <a:srgbClr val="15608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8" b="1" i="0" u="none" strike="noStrike" cap="none">
                <a:solidFill>
                  <a:srgbClr val="FFFFFF"/>
                </a:solidFill>
                <a:latin typeface="Asta Sans"/>
                <a:ea typeface="Asta Sans"/>
                <a:cs typeface="Asta Sans"/>
                <a:sym typeface="Asta Sans"/>
              </a:rPr>
              <a:t>5</a:t>
            </a:r>
            <a:endParaRPr sz="1616">
              <a:latin typeface="Asta Sans"/>
              <a:ea typeface="Asta Sans"/>
              <a:cs typeface="Asta Sans"/>
              <a:sym typeface="Asta Sans"/>
            </a:endParaRPr>
          </a:p>
        </p:txBody>
      </p:sp>
      <p:sp>
        <p:nvSpPr>
          <p:cNvPr id="268" name="Google Shape;268;g3f4729efffc_14_1"/>
          <p:cNvSpPr txBox="1"/>
          <p:nvPr/>
        </p:nvSpPr>
        <p:spPr>
          <a:xfrm>
            <a:off x="9730172" y="3525734"/>
            <a:ext cx="2158800" cy="2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00" tIns="49500" rIns="99000" bIns="495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91" b="1" i="0" u="none" strike="noStrike" cap="none">
                <a:solidFill>
                  <a:srgbClr val="0E2841"/>
                </a:solidFill>
                <a:latin typeface="Asta Sans"/>
                <a:ea typeface="Asta Sans"/>
                <a:cs typeface="Asta Sans"/>
                <a:sym typeface="Asta Sans"/>
              </a:rPr>
              <a:t>독립 실행</a:t>
            </a:r>
            <a:endParaRPr sz="1616">
              <a:latin typeface="Asta Sans"/>
              <a:ea typeface="Asta Sans"/>
              <a:cs typeface="Asta Sans"/>
              <a:sym typeface="Asta Sans"/>
            </a:endParaRPr>
          </a:p>
        </p:txBody>
      </p:sp>
      <p:sp>
        <p:nvSpPr>
          <p:cNvPr id="269" name="Google Shape;269;g3f4729efffc_14_1"/>
          <p:cNvSpPr txBox="1"/>
          <p:nvPr/>
        </p:nvSpPr>
        <p:spPr>
          <a:xfrm>
            <a:off x="303038" y="3850994"/>
            <a:ext cx="5941200" cy="34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00" tIns="49500" rIns="99000" bIns="495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16" b="1" i="0" u="none" strike="noStrike" cap="none">
                <a:solidFill>
                  <a:srgbClr val="156082"/>
                </a:solidFill>
                <a:latin typeface="Asta Sans"/>
                <a:ea typeface="Asta Sans"/>
                <a:cs typeface="Asta Sans"/>
                <a:sym typeface="Asta Sans"/>
              </a:rPr>
              <a:t>추가 기능 구현</a:t>
            </a:r>
            <a:endParaRPr sz="1616">
              <a:latin typeface="Asta Sans"/>
              <a:ea typeface="Asta Sans"/>
              <a:cs typeface="Asta Sans"/>
              <a:sym typeface="Asta Sans"/>
            </a:endParaRPr>
          </a:p>
        </p:txBody>
      </p:sp>
      <p:sp>
        <p:nvSpPr>
          <p:cNvPr id="270" name="Google Shape;270;g3f4729efffc_14_1"/>
          <p:cNvSpPr/>
          <p:nvPr/>
        </p:nvSpPr>
        <p:spPr>
          <a:xfrm>
            <a:off x="303038" y="4179297"/>
            <a:ext cx="2158800" cy="1287000"/>
          </a:xfrm>
          <a:prstGeom prst="roundRect">
            <a:avLst>
              <a:gd name="adj" fmla="val 8000"/>
            </a:avLst>
          </a:prstGeom>
          <a:solidFill>
            <a:srgbClr val="F2F6F9"/>
          </a:solidFill>
          <a:ln w="10325" cap="flat" cmpd="sng">
            <a:solidFill>
              <a:srgbClr val="1560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8825" tIns="69300" rIns="118825" bIns="495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54" b="1" i="0" u="none" strike="noStrike" cap="none">
                <a:solidFill>
                  <a:srgbClr val="156082"/>
                </a:solidFill>
                <a:latin typeface="Asta Sans"/>
                <a:ea typeface="Asta Sans"/>
                <a:cs typeface="Asta Sans"/>
                <a:sym typeface="Asta Sans"/>
              </a:rPr>
              <a:t>Prep</a:t>
            </a:r>
            <a:endParaRPr sz="1616">
              <a:latin typeface="Asta Sans"/>
              <a:ea typeface="Asta Sans"/>
              <a:cs typeface="Asta Sans"/>
              <a:sym typeface="Ast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62"/>
              </a:spcBef>
              <a:spcAft>
                <a:spcPts val="0"/>
              </a:spcAft>
              <a:buNone/>
            </a:pPr>
            <a:r>
              <a:rPr lang="ko-KR" sz="1075">
                <a:solidFill>
                  <a:srgbClr val="404040"/>
                </a:solidFill>
                <a:latin typeface="Asta Sans"/>
                <a:ea typeface="Asta Sans"/>
                <a:cs typeface="Asta Sans"/>
                <a:sym typeface="Asta Sans"/>
              </a:rPr>
              <a:t>요구 명세서</a:t>
            </a:r>
            <a:endParaRPr sz="1616">
              <a:latin typeface="Asta Sans"/>
              <a:ea typeface="Asta Sans"/>
              <a:cs typeface="Asta Sans"/>
              <a:sym typeface="Ast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62"/>
              </a:spcBef>
              <a:spcAft>
                <a:spcPts val="0"/>
              </a:spcAft>
              <a:buNone/>
            </a:pPr>
            <a:r>
              <a:rPr lang="ko-KR" sz="1075" i="0" u="none" strike="noStrike" cap="none">
                <a:solidFill>
                  <a:srgbClr val="404040"/>
                </a:solidFill>
                <a:latin typeface="Asta Sans"/>
                <a:ea typeface="Asta Sans"/>
                <a:cs typeface="Asta Sans"/>
                <a:sym typeface="Asta Sans"/>
              </a:rPr>
              <a:t>additional-requirement-</a:t>
            </a:r>
            <a:endParaRPr sz="1616">
              <a:latin typeface="Asta Sans"/>
              <a:ea typeface="Asta Sans"/>
              <a:cs typeface="Asta Sans"/>
              <a:sym typeface="Ast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62"/>
              </a:spcBef>
              <a:spcAft>
                <a:spcPts val="0"/>
              </a:spcAft>
              <a:buNone/>
            </a:pPr>
            <a:r>
              <a:rPr lang="ko-KR" sz="1075" i="0" u="none" strike="noStrike" cap="none">
                <a:solidFill>
                  <a:srgbClr val="404040"/>
                </a:solidFill>
                <a:latin typeface="Asta Sans"/>
                <a:ea typeface="Asta Sans"/>
                <a:cs typeface="Asta Sans"/>
                <a:sym typeface="Asta Sans"/>
              </a:rPr>
              <a:t>impl-spec.md 초안 작성</a:t>
            </a:r>
            <a:endParaRPr sz="1616">
              <a:latin typeface="Asta Sans"/>
              <a:ea typeface="Asta Sans"/>
              <a:cs typeface="Asta Sans"/>
              <a:sym typeface="Asta Sans"/>
            </a:endParaRPr>
          </a:p>
        </p:txBody>
      </p:sp>
      <p:sp>
        <p:nvSpPr>
          <p:cNvPr id="271" name="Google Shape;271;g3f4729efffc_14_1"/>
          <p:cNvSpPr/>
          <p:nvPr/>
        </p:nvSpPr>
        <p:spPr>
          <a:xfrm>
            <a:off x="2659821" y="4179297"/>
            <a:ext cx="2158800" cy="1287000"/>
          </a:xfrm>
          <a:prstGeom prst="roundRect">
            <a:avLst>
              <a:gd name="adj" fmla="val 8000"/>
            </a:avLst>
          </a:prstGeom>
          <a:solidFill>
            <a:srgbClr val="F2F6F9"/>
          </a:solidFill>
          <a:ln w="10325" cap="flat" cmpd="sng">
            <a:solidFill>
              <a:srgbClr val="1560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8825" tIns="69300" rIns="118825" bIns="495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54" b="1" i="0" u="none" strike="noStrike" cap="none">
                <a:solidFill>
                  <a:srgbClr val="156082"/>
                </a:solidFill>
                <a:latin typeface="Asta Sans"/>
                <a:ea typeface="Asta Sans"/>
                <a:cs typeface="Asta Sans"/>
                <a:sym typeface="Asta Sans"/>
              </a:rPr>
              <a:t>Roles</a:t>
            </a:r>
            <a:endParaRPr sz="1616">
              <a:latin typeface="Asta Sans"/>
              <a:ea typeface="Asta Sans"/>
              <a:cs typeface="Asta Sans"/>
              <a:sym typeface="Ast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62"/>
              </a:spcBef>
              <a:spcAft>
                <a:spcPts val="0"/>
              </a:spcAft>
              <a:buNone/>
            </a:pPr>
            <a:r>
              <a:rPr lang="ko-KR" sz="1075" i="0" u="none" strike="noStrike" cap="none">
                <a:solidFill>
                  <a:srgbClr val="404040"/>
                </a:solidFill>
                <a:latin typeface="Asta Sans"/>
                <a:ea typeface="Asta Sans"/>
                <a:cs typeface="Asta Sans"/>
                <a:sym typeface="Asta Sans"/>
              </a:rPr>
              <a:t>배열-Hong, 클래스-Park,</a:t>
            </a:r>
            <a:endParaRPr sz="1616">
              <a:latin typeface="Asta Sans"/>
              <a:ea typeface="Asta Sans"/>
              <a:cs typeface="Asta Sans"/>
              <a:sym typeface="Ast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62"/>
              </a:spcBef>
              <a:spcAft>
                <a:spcPts val="0"/>
              </a:spcAft>
              <a:buNone/>
            </a:pPr>
            <a:r>
              <a:rPr lang="ko-KR" sz="1075" i="0" u="none" strike="noStrike" cap="none">
                <a:solidFill>
                  <a:srgbClr val="404040"/>
                </a:solidFill>
                <a:latin typeface="Asta Sans"/>
                <a:ea typeface="Asta Sans"/>
                <a:cs typeface="Asta Sans"/>
                <a:sym typeface="Asta Sans"/>
              </a:rPr>
              <a:t>함수-Lee, 최적화-Kwon,</a:t>
            </a:r>
            <a:endParaRPr sz="1616">
              <a:latin typeface="Asta Sans"/>
              <a:ea typeface="Asta Sans"/>
              <a:cs typeface="Asta Sans"/>
              <a:sym typeface="Ast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62"/>
              </a:spcBef>
              <a:spcAft>
                <a:spcPts val="0"/>
              </a:spcAft>
              <a:buNone/>
            </a:pPr>
            <a:r>
              <a:rPr lang="ko-KR" sz="1075" i="0" u="none" strike="noStrike" cap="none">
                <a:solidFill>
                  <a:srgbClr val="404040"/>
                </a:solidFill>
                <a:latin typeface="Asta Sans"/>
                <a:ea typeface="Asta Sans"/>
                <a:cs typeface="Asta Sans"/>
                <a:sym typeface="Asta Sans"/>
              </a:rPr>
              <a:t>Import-Ryu 담당 확정</a:t>
            </a:r>
            <a:endParaRPr sz="1616">
              <a:latin typeface="Asta Sans"/>
              <a:ea typeface="Asta Sans"/>
              <a:cs typeface="Asta Sans"/>
              <a:sym typeface="Asta Sans"/>
            </a:endParaRPr>
          </a:p>
        </p:txBody>
      </p:sp>
      <p:sp>
        <p:nvSpPr>
          <p:cNvPr id="272" name="Google Shape;272;g3f4729efffc_14_1"/>
          <p:cNvSpPr/>
          <p:nvPr/>
        </p:nvSpPr>
        <p:spPr>
          <a:xfrm>
            <a:off x="5016605" y="4179297"/>
            <a:ext cx="2158800" cy="1287000"/>
          </a:xfrm>
          <a:prstGeom prst="roundRect">
            <a:avLst>
              <a:gd name="adj" fmla="val 8000"/>
            </a:avLst>
          </a:prstGeom>
          <a:solidFill>
            <a:srgbClr val="F2F6F9"/>
          </a:solidFill>
          <a:ln w="10325" cap="flat" cmpd="sng">
            <a:solidFill>
              <a:srgbClr val="1560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8825" tIns="69300" rIns="118825" bIns="495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54" b="1" i="0" u="none" strike="noStrike" cap="none">
                <a:solidFill>
                  <a:srgbClr val="156082"/>
                </a:solidFill>
                <a:latin typeface="Asta Sans"/>
                <a:ea typeface="Asta Sans"/>
                <a:cs typeface="Asta Sans"/>
                <a:sym typeface="Asta Sans"/>
              </a:rPr>
              <a:t>Review</a:t>
            </a:r>
            <a:endParaRPr sz="1616">
              <a:latin typeface="Asta Sans"/>
              <a:ea typeface="Asta Sans"/>
              <a:cs typeface="Asta Sans"/>
              <a:sym typeface="Ast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62"/>
              </a:spcBef>
              <a:spcAft>
                <a:spcPts val="0"/>
              </a:spcAft>
              <a:buNone/>
            </a:pPr>
            <a:r>
              <a:rPr lang="ko-KR" sz="1075" i="0" u="none" strike="noStrike" cap="none">
                <a:solidFill>
                  <a:srgbClr val="404040"/>
                </a:solidFill>
                <a:latin typeface="Asta Sans"/>
                <a:ea typeface="Asta Sans"/>
                <a:cs typeface="Asta Sans"/>
                <a:sym typeface="Asta Sans"/>
              </a:rPr>
              <a:t>공통부 stub PR을</a:t>
            </a:r>
            <a:endParaRPr sz="1616">
              <a:latin typeface="Asta Sans"/>
              <a:ea typeface="Asta Sans"/>
              <a:cs typeface="Asta Sans"/>
              <a:sym typeface="Ast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62"/>
              </a:spcBef>
              <a:spcAft>
                <a:spcPts val="0"/>
              </a:spcAft>
              <a:buNone/>
            </a:pPr>
            <a:r>
              <a:rPr lang="ko-KR" sz="1075" i="0" u="none" strike="noStrike" cap="none">
                <a:solidFill>
                  <a:srgbClr val="404040"/>
                </a:solidFill>
                <a:latin typeface="Asta Sans"/>
                <a:ea typeface="Asta Sans"/>
                <a:cs typeface="Asta Sans"/>
                <a:sym typeface="Asta Sans"/>
              </a:rPr>
              <a:t>5인 합동 리뷰</a:t>
            </a:r>
            <a:endParaRPr sz="1616">
              <a:latin typeface="Asta Sans"/>
              <a:ea typeface="Asta Sans"/>
              <a:cs typeface="Asta Sans"/>
              <a:sym typeface="Ast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62"/>
              </a:spcBef>
              <a:spcAft>
                <a:spcPts val="0"/>
              </a:spcAft>
              <a:buNone/>
            </a:pPr>
            <a:r>
              <a:rPr lang="ko-KR" sz="1075" i="0" u="none" strike="noStrike" cap="none">
                <a:solidFill>
                  <a:srgbClr val="404040"/>
                </a:solidFill>
                <a:latin typeface="Asta Sans"/>
                <a:ea typeface="Asta Sans"/>
                <a:cs typeface="Asta Sans"/>
                <a:sym typeface="Asta Sans"/>
              </a:rPr>
              <a:t>(phase0-review-checklist.md)</a:t>
            </a:r>
            <a:endParaRPr sz="1616">
              <a:latin typeface="Asta Sans"/>
              <a:ea typeface="Asta Sans"/>
              <a:cs typeface="Asta Sans"/>
              <a:sym typeface="Asta Sans"/>
            </a:endParaRPr>
          </a:p>
        </p:txBody>
      </p:sp>
      <p:sp>
        <p:nvSpPr>
          <p:cNvPr id="273" name="Google Shape;273;g3f4729efffc_14_1"/>
          <p:cNvSpPr/>
          <p:nvPr/>
        </p:nvSpPr>
        <p:spPr>
          <a:xfrm>
            <a:off x="7373389" y="4179297"/>
            <a:ext cx="2158800" cy="1287000"/>
          </a:xfrm>
          <a:prstGeom prst="roundRect">
            <a:avLst>
              <a:gd name="adj" fmla="val 8000"/>
            </a:avLst>
          </a:prstGeom>
          <a:solidFill>
            <a:srgbClr val="F2F6F9"/>
          </a:solidFill>
          <a:ln w="10325" cap="flat" cmpd="sng">
            <a:solidFill>
              <a:srgbClr val="1560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8825" tIns="69300" rIns="118825" bIns="495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54" b="1" i="0" u="none" strike="noStrike" cap="none">
                <a:solidFill>
                  <a:srgbClr val="156082"/>
                </a:solidFill>
                <a:latin typeface="Asta Sans"/>
                <a:ea typeface="Asta Sans"/>
                <a:cs typeface="Asta Sans"/>
                <a:sym typeface="Asta Sans"/>
              </a:rPr>
              <a:t>Sync</a:t>
            </a:r>
            <a:endParaRPr sz="1616">
              <a:latin typeface="Asta Sans"/>
              <a:ea typeface="Asta Sans"/>
              <a:cs typeface="Asta Sans"/>
              <a:sym typeface="Ast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62"/>
              </a:spcBef>
              <a:spcAft>
                <a:spcPts val="0"/>
              </a:spcAft>
              <a:buNone/>
            </a:pPr>
            <a:r>
              <a:rPr lang="ko-KR" sz="1075" i="0" u="none" strike="noStrike" cap="none">
                <a:solidFill>
                  <a:srgbClr val="404040"/>
                </a:solidFill>
                <a:latin typeface="Asta Sans"/>
                <a:ea typeface="Asta Sans"/>
                <a:cs typeface="Asta Sans"/>
                <a:sym typeface="Asta Sans"/>
              </a:rPr>
              <a:t>체크리스트로 공통부</a:t>
            </a:r>
            <a:endParaRPr sz="1616">
              <a:latin typeface="Asta Sans"/>
              <a:ea typeface="Asta Sans"/>
              <a:cs typeface="Asta Sans"/>
              <a:sym typeface="Ast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62"/>
              </a:spcBef>
              <a:spcAft>
                <a:spcPts val="0"/>
              </a:spcAft>
              <a:buNone/>
            </a:pPr>
            <a:r>
              <a:rPr lang="ko-KR" sz="1075" i="0" u="none" strike="noStrike" cap="none">
                <a:solidFill>
                  <a:srgbClr val="404040"/>
                </a:solidFill>
                <a:latin typeface="Asta Sans"/>
                <a:ea typeface="Asta Sans"/>
                <a:cs typeface="Asta Sans"/>
                <a:sym typeface="Asta Sans"/>
              </a:rPr>
              <a:t>이상 없음 확인 후</a:t>
            </a:r>
            <a:endParaRPr sz="1616">
              <a:latin typeface="Asta Sans"/>
              <a:ea typeface="Asta Sans"/>
              <a:cs typeface="Asta Sans"/>
              <a:sym typeface="Ast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62"/>
              </a:spcBef>
              <a:spcAft>
                <a:spcPts val="0"/>
              </a:spcAft>
              <a:buNone/>
            </a:pPr>
            <a:r>
              <a:rPr lang="ko-KR" sz="1075" i="0" u="none" strike="noStrike" cap="none">
                <a:solidFill>
                  <a:srgbClr val="404040"/>
                </a:solidFill>
                <a:latin typeface="Asta Sans"/>
                <a:ea typeface="Asta Sans"/>
                <a:cs typeface="Asta Sans"/>
                <a:sym typeface="Asta Sans"/>
              </a:rPr>
              <a:t>베이스라인 확정</a:t>
            </a:r>
            <a:endParaRPr sz="1616">
              <a:latin typeface="Asta Sans"/>
              <a:ea typeface="Asta Sans"/>
              <a:cs typeface="Asta Sans"/>
              <a:sym typeface="Asta Sans"/>
            </a:endParaRPr>
          </a:p>
        </p:txBody>
      </p:sp>
      <p:sp>
        <p:nvSpPr>
          <p:cNvPr id="274" name="Google Shape;274;g3f4729efffc_14_1"/>
          <p:cNvSpPr/>
          <p:nvPr/>
        </p:nvSpPr>
        <p:spPr>
          <a:xfrm>
            <a:off x="9730172" y="4179297"/>
            <a:ext cx="2158800" cy="1287000"/>
          </a:xfrm>
          <a:prstGeom prst="roundRect">
            <a:avLst>
              <a:gd name="adj" fmla="val 8000"/>
            </a:avLst>
          </a:prstGeom>
          <a:solidFill>
            <a:srgbClr val="F2F6F9"/>
          </a:solidFill>
          <a:ln w="20625" cap="flat" cmpd="sng">
            <a:solidFill>
              <a:srgbClr val="1560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8825" tIns="69300" rIns="118825" bIns="495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54" b="1" i="0" u="none" strike="noStrike" cap="none">
                <a:solidFill>
                  <a:srgbClr val="156082"/>
                </a:solidFill>
                <a:latin typeface="Asta Sans"/>
                <a:ea typeface="Asta Sans"/>
                <a:cs typeface="Asta Sans"/>
                <a:sym typeface="Asta Sans"/>
              </a:rPr>
              <a:t>Parallel</a:t>
            </a:r>
            <a:endParaRPr sz="1616">
              <a:latin typeface="Asta Sans"/>
              <a:ea typeface="Asta Sans"/>
              <a:cs typeface="Asta Sans"/>
              <a:sym typeface="Ast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62"/>
              </a:spcBef>
              <a:spcAft>
                <a:spcPts val="0"/>
              </a:spcAft>
              <a:buNone/>
            </a:pPr>
            <a:r>
              <a:rPr lang="ko-KR" sz="1075" i="0" u="none" strike="noStrike" cap="none">
                <a:solidFill>
                  <a:srgbClr val="404040"/>
                </a:solidFill>
                <a:latin typeface="Asta Sans"/>
                <a:ea typeface="Asta Sans"/>
                <a:cs typeface="Asta Sans"/>
                <a:sym typeface="Asta Sans"/>
              </a:rPr>
              <a:t>확정 명세 기준</a:t>
            </a:r>
            <a:endParaRPr sz="1616">
              <a:latin typeface="Asta Sans"/>
              <a:ea typeface="Asta Sans"/>
              <a:cs typeface="Asta Sans"/>
              <a:sym typeface="Ast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62"/>
              </a:spcBef>
              <a:spcAft>
                <a:spcPts val="0"/>
              </a:spcAft>
              <a:buNone/>
            </a:pPr>
            <a:r>
              <a:rPr lang="ko-KR" sz="1075" i="0" u="none" strike="noStrike" cap="none">
                <a:solidFill>
                  <a:srgbClr val="404040"/>
                </a:solidFill>
                <a:latin typeface="Asta Sans"/>
                <a:ea typeface="Asta Sans"/>
                <a:cs typeface="Asta Sans"/>
                <a:sym typeface="Asta Sans"/>
              </a:rPr>
              <a:t>기능별(배열/클래스/함수/</a:t>
            </a:r>
            <a:endParaRPr sz="1616">
              <a:latin typeface="Asta Sans"/>
              <a:ea typeface="Asta Sans"/>
              <a:cs typeface="Asta Sans"/>
              <a:sym typeface="Ast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62"/>
              </a:spcBef>
              <a:spcAft>
                <a:spcPts val="0"/>
              </a:spcAft>
              <a:buNone/>
            </a:pPr>
            <a:r>
              <a:rPr lang="ko-KR" sz="1075" i="0" u="none" strike="noStrike" cap="none">
                <a:solidFill>
                  <a:srgbClr val="404040"/>
                </a:solidFill>
                <a:latin typeface="Asta Sans"/>
                <a:ea typeface="Asta Sans"/>
                <a:cs typeface="Asta Sans"/>
                <a:sym typeface="Asta Sans"/>
              </a:rPr>
              <a:t>최적화/Import) 병렬 구현</a:t>
            </a:r>
            <a:endParaRPr sz="1616">
              <a:latin typeface="Asta Sans"/>
              <a:ea typeface="Asta Sans"/>
              <a:cs typeface="Asta Sans"/>
              <a:sym typeface="Asta Sans"/>
            </a:endParaRPr>
          </a:p>
        </p:txBody>
      </p:sp>
      <p:sp>
        <p:nvSpPr>
          <p:cNvPr id="275" name="Google Shape;275;g3f4729efffc_14_1"/>
          <p:cNvSpPr/>
          <p:nvPr/>
        </p:nvSpPr>
        <p:spPr>
          <a:xfrm>
            <a:off x="303038" y="5862558"/>
            <a:ext cx="11487000" cy="544500"/>
          </a:xfrm>
          <a:prstGeom prst="roundRect">
            <a:avLst>
              <a:gd name="adj" fmla="val 25000"/>
            </a:avLst>
          </a:prstGeom>
          <a:solidFill>
            <a:srgbClr val="E9F1F5"/>
          </a:solidFill>
          <a:ln w="13775" cap="flat" cmpd="sng">
            <a:solidFill>
              <a:srgbClr val="1560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98050" tIns="49500" rIns="198050" bIns="495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791" b="1" i="0" u="none" strike="noStrike" cap="none">
                <a:solidFill>
                  <a:srgbClr val="0E2841"/>
                </a:solidFill>
                <a:latin typeface="Asta Sans"/>
                <a:ea typeface="Asta Sans"/>
                <a:cs typeface="Asta Sans"/>
                <a:sym typeface="Asta Sans"/>
              </a:rPr>
              <a:t>핵심: "공동 명세 → 공통부 </a:t>
            </a:r>
            <a:r>
              <a:rPr lang="ko-KR" sz="1791" b="1">
                <a:solidFill>
                  <a:srgbClr val="0E2841"/>
                </a:solidFill>
                <a:latin typeface="Asta Sans"/>
                <a:ea typeface="Asta Sans"/>
                <a:cs typeface="Asta Sans"/>
                <a:sym typeface="Asta Sans"/>
              </a:rPr>
              <a:t>확정</a:t>
            </a:r>
            <a:r>
              <a:rPr lang="ko-KR" sz="1791" b="1" i="0" u="none" strike="noStrike" cap="none">
                <a:solidFill>
                  <a:srgbClr val="0E2841"/>
                </a:solidFill>
                <a:latin typeface="Asta Sans"/>
                <a:ea typeface="Asta Sans"/>
                <a:cs typeface="Asta Sans"/>
                <a:sym typeface="Asta Sans"/>
              </a:rPr>
              <a:t> → 개별 병렬 TDD" </a:t>
            </a:r>
            <a:r>
              <a:rPr lang="ko-KR" sz="1791" b="1">
                <a:solidFill>
                  <a:srgbClr val="0E2841"/>
                </a:solidFill>
                <a:latin typeface="Asta Sans"/>
                <a:ea typeface="Asta Sans"/>
                <a:cs typeface="Asta Sans"/>
                <a:sym typeface="Asta Sans"/>
              </a:rPr>
              <a:t>workflow를 따라, 각 팀원마다 AI tool을 사용해 병렬 개발 가능</a:t>
            </a:r>
            <a:endParaRPr sz="2116">
              <a:latin typeface="Asta Sans"/>
              <a:ea typeface="Asta Sans"/>
              <a:cs typeface="Asta Sans"/>
              <a:sym typeface="Asta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f4729efffc_14_45"/>
          <p:cNvSpPr txBox="1">
            <a:spLocks noGrp="1"/>
          </p:cNvSpPr>
          <p:nvPr>
            <p:ph type="title"/>
          </p:nvPr>
        </p:nvSpPr>
        <p:spPr>
          <a:xfrm>
            <a:off x="605980" y="310143"/>
            <a:ext cx="10515600" cy="649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200" b="1">
                <a:solidFill>
                  <a:srgbClr val="0E2841"/>
                </a:solidFill>
                <a:latin typeface="Asta Sans"/>
                <a:ea typeface="Asta Sans"/>
                <a:cs typeface="Asta Sans"/>
                <a:sym typeface="Asta Sans"/>
              </a:rPr>
              <a:t>CodeFab_TeamD 협업 Workflow - 예시</a:t>
            </a:r>
            <a:endParaRPr sz="5000">
              <a:latin typeface="Asta Sans"/>
              <a:ea typeface="Asta Sans"/>
              <a:cs typeface="Asta Sans"/>
              <a:sym typeface="Asta Sans"/>
            </a:endParaRPr>
          </a:p>
        </p:txBody>
      </p:sp>
      <p:sp>
        <p:nvSpPr>
          <p:cNvPr id="281" name="Google Shape;281;g3f4729efffc_14_45"/>
          <p:cNvSpPr txBox="1">
            <a:spLocks noGrp="1"/>
          </p:cNvSpPr>
          <p:nvPr>
            <p:ph type="body" idx="1"/>
          </p:nvPr>
        </p:nvSpPr>
        <p:spPr>
          <a:xfrm>
            <a:off x="605980" y="1316376"/>
            <a:ext cx="10515600" cy="492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sta Sans"/>
              <a:ea typeface="Asta Sans"/>
              <a:cs typeface="Asta Sans"/>
              <a:sym typeface="Asta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sta Sans"/>
              <a:ea typeface="Asta Sans"/>
              <a:cs typeface="Asta Sans"/>
              <a:sym typeface="Asta Sans"/>
            </a:endParaRPr>
          </a:p>
        </p:txBody>
      </p:sp>
      <p:pic>
        <p:nvPicPr>
          <p:cNvPr id="282" name="Google Shape;282;g3f4729efffc_14_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4363" y="1058425"/>
            <a:ext cx="7863276" cy="5087274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83" name="Google Shape;283;g3f4729efffc_14_45"/>
          <p:cNvSpPr txBox="1"/>
          <p:nvPr/>
        </p:nvSpPr>
        <p:spPr>
          <a:xfrm>
            <a:off x="2718900" y="6244175"/>
            <a:ext cx="6754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Unit간 interface 명세: </a:t>
            </a:r>
            <a:r>
              <a:rPr lang="ko-KR" sz="1100" u="sng">
                <a:solidFill>
                  <a:schemeClr val="hlink"/>
                </a:solidFill>
                <a:hlinkClick r:id="rId4"/>
              </a:rPr>
              <a:t>CodeFab_TeamD/docs/unit-io-spec.md at master · jin5383/CodeFab_TeamD</a:t>
            </a:r>
            <a:r>
              <a:rPr lang="ko-KR" sz="1100">
                <a:solidFill>
                  <a:schemeClr val="dk1"/>
                </a:solidFill>
              </a:rPr>
              <a:t> </a:t>
            </a:r>
            <a:endParaRPr sz="2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f44738b4e9_6_52"/>
          <p:cNvSpPr txBox="1">
            <a:spLocks noGrp="1"/>
          </p:cNvSpPr>
          <p:nvPr>
            <p:ph type="title"/>
          </p:nvPr>
        </p:nvSpPr>
        <p:spPr>
          <a:xfrm>
            <a:off x="605980" y="310143"/>
            <a:ext cx="10515600" cy="6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ko-KR" sz="3200" b="1">
                <a:latin typeface="Asta Sans"/>
                <a:ea typeface="Asta Sans"/>
                <a:cs typeface="Asta Sans"/>
                <a:sym typeface="Asta Sans"/>
              </a:rPr>
              <a:t> Pull Request 포맷 고정</a:t>
            </a:r>
            <a:endParaRPr>
              <a:latin typeface="Asta Sans"/>
              <a:ea typeface="Asta Sans"/>
              <a:cs typeface="Asta Sans"/>
              <a:sym typeface="Asta Sans"/>
            </a:endParaRPr>
          </a:p>
        </p:txBody>
      </p:sp>
      <p:sp>
        <p:nvSpPr>
          <p:cNvPr id="289" name="Google Shape;289;g3f44738b4e9_6_52"/>
          <p:cNvSpPr txBox="1">
            <a:spLocks noGrp="1"/>
          </p:cNvSpPr>
          <p:nvPr>
            <p:ph type="body" idx="1"/>
          </p:nvPr>
        </p:nvSpPr>
        <p:spPr>
          <a:xfrm>
            <a:off x="605975" y="1050225"/>
            <a:ext cx="11378400" cy="4927800"/>
          </a:xfrm>
          <a:prstGeom prst="rect">
            <a:avLst/>
          </a:prstGeom>
          <a:noFill/>
          <a:ln>
            <a:noFill/>
          </a:ln>
          <a:effectLst>
            <a:reflection dist="38100" dir="5400000" fadeDir="5400012" sy="-100000" algn="bl" rotWithShape="0"/>
          </a:effectLst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sta Sans"/>
              <a:buChar char="●"/>
            </a:pPr>
            <a:r>
              <a:rPr lang="ko-KR">
                <a:latin typeface="Asta Sans"/>
                <a:ea typeface="Asta Sans"/>
                <a:cs typeface="Asta Sans"/>
                <a:sym typeface="Asta Sans"/>
              </a:rPr>
              <a:t>Description</a:t>
            </a:r>
            <a:endParaRPr>
              <a:latin typeface="Asta Sans"/>
              <a:ea typeface="Asta Sans"/>
              <a:cs typeface="Asta Sans"/>
              <a:sym typeface="Asta Sans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sta Sans"/>
              <a:buChar char="○"/>
            </a:pPr>
            <a:r>
              <a:rPr lang="ko-KR">
                <a:latin typeface="Asta Sans"/>
                <a:ea typeface="Asta Sans"/>
                <a:cs typeface="Asta Sans"/>
                <a:sym typeface="Asta Sans"/>
              </a:rPr>
              <a:t>pull_request_template.md 파일을 추가하여 PR Description 포맷 고정</a:t>
            </a:r>
            <a:endParaRPr>
              <a:latin typeface="Asta Sans"/>
              <a:ea typeface="Asta Sans"/>
              <a:cs typeface="Asta Sans"/>
              <a:sym typeface="Asta Sans"/>
            </a:endParaRPr>
          </a:p>
          <a:p>
            <a:pPr marL="1371600" lvl="2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sta Sans"/>
              <a:buChar char="■"/>
            </a:pPr>
            <a:r>
              <a:rPr lang="ko-KR">
                <a:latin typeface="Asta Sans"/>
                <a:ea typeface="Asta Sans"/>
                <a:cs typeface="Asta Sans"/>
                <a:sym typeface="Asta Sans"/>
              </a:rPr>
              <a:t>제목, 설명, TC 목록, ...</a:t>
            </a:r>
            <a:br>
              <a:rPr lang="ko-KR">
                <a:latin typeface="Asta Sans"/>
                <a:ea typeface="Asta Sans"/>
                <a:cs typeface="Asta Sans"/>
                <a:sym typeface="Asta Sans"/>
              </a:rPr>
            </a:br>
            <a:endParaRPr>
              <a:latin typeface="Asta Sans"/>
              <a:ea typeface="Asta Sans"/>
              <a:cs typeface="Asta Sans"/>
              <a:sym typeface="Asta Sans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sta Sans"/>
              <a:buChar char="○"/>
            </a:pPr>
            <a:r>
              <a:rPr lang="ko-KR">
                <a:latin typeface="Asta Sans"/>
                <a:ea typeface="Asta Sans"/>
                <a:cs typeface="Asta Sans"/>
                <a:sym typeface="Asta Sans"/>
              </a:rPr>
              <a:t>Reviewer에게 관련 PR의 정확한 정보 제공</a:t>
            </a:r>
            <a:br>
              <a:rPr lang="ko-KR">
                <a:latin typeface="Asta Sans"/>
                <a:ea typeface="Asta Sans"/>
                <a:cs typeface="Asta Sans"/>
                <a:sym typeface="Asta Sans"/>
              </a:rPr>
            </a:br>
            <a:endParaRPr>
              <a:latin typeface="Asta Sans"/>
              <a:ea typeface="Asta Sans"/>
              <a:cs typeface="Asta Sans"/>
              <a:sym typeface="Asta Sans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sta Sans"/>
              <a:buChar char="○"/>
            </a:pPr>
            <a:r>
              <a:rPr lang="ko-KR" sz="2400">
                <a:latin typeface="Asta Sans"/>
                <a:ea typeface="Asta Sans"/>
                <a:cs typeface="Asta Sans"/>
                <a:sym typeface="Asta Sans"/>
              </a:rPr>
              <a:t>commit 규칙, TC 작성 여부 등을 Cross Check 가능</a:t>
            </a:r>
            <a:endParaRPr sz="2400">
              <a:latin typeface="Asta Sans"/>
              <a:ea typeface="Asta Sans"/>
              <a:cs typeface="Asta Sans"/>
              <a:sym typeface="Asta Sans"/>
            </a:endParaRPr>
          </a:p>
          <a:p>
            <a:pPr marL="13716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sta Sans"/>
              <a:ea typeface="Asta Sans"/>
              <a:cs typeface="Asta Sans"/>
              <a:sym typeface="Asta Sa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sta Sans"/>
              <a:ea typeface="Asta Sans"/>
              <a:cs typeface="Asta Sans"/>
              <a:sym typeface="Asta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sta Sans"/>
              <a:ea typeface="Asta Sans"/>
              <a:cs typeface="Asta Sans"/>
              <a:sym typeface="Asta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f4729efffc_2_255"/>
          <p:cNvSpPr txBox="1">
            <a:spLocks noGrp="1"/>
          </p:cNvSpPr>
          <p:nvPr>
            <p:ph type="title"/>
          </p:nvPr>
        </p:nvSpPr>
        <p:spPr>
          <a:xfrm>
            <a:off x="605980" y="310143"/>
            <a:ext cx="10515600" cy="6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ko-KR" sz="3200" b="1">
                <a:latin typeface="Asta Sans"/>
                <a:ea typeface="Asta Sans"/>
                <a:cs typeface="Asta Sans"/>
                <a:sym typeface="Asta Sans"/>
              </a:rPr>
              <a:t> Pull Request 포맷 고정 - 예시</a:t>
            </a:r>
            <a:endParaRPr>
              <a:latin typeface="Asta Sans"/>
              <a:ea typeface="Asta Sans"/>
              <a:cs typeface="Asta Sans"/>
              <a:sym typeface="Asta Sans"/>
            </a:endParaRPr>
          </a:p>
        </p:txBody>
      </p:sp>
      <p:pic>
        <p:nvPicPr>
          <p:cNvPr id="295" name="Google Shape;295;g3f4729efffc_2_25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67013" y="1648312"/>
            <a:ext cx="6293825" cy="4582275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96" name="Google Shape;296;g3f4729efffc_2_255"/>
          <p:cNvSpPr txBox="1"/>
          <p:nvPr/>
        </p:nvSpPr>
        <p:spPr>
          <a:xfrm>
            <a:off x="3432988" y="6303900"/>
            <a:ext cx="54117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91440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chemeClr val="dk1"/>
                </a:solidFill>
                <a:latin typeface="Asta Sans"/>
                <a:ea typeface="Asta Sans"/>
                <a:cs typeface="Asta Sans"/>
                <a:sym typeface="Asta Sans"/>
              </a:rPr>
              <a:t>Pull Request Message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f4729efffc_2_291"/>
          <p:cNvSpPr txBox="1">
            <a:spLocks noGrp="1"/>
          </p:cNvSpPr>
          <p:nvPr>
            <p:ph type="title"/>
          </p:nvPr>
        </p:nvSpPr>
        <p:spPr>
          <a:xfrm>
            <a:off x="605980" y="310143"/>
            <a:ext cx="10515600" cy="6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ko-KR" sz="3200" b="1">
                <a:latin typeface="Asta Sans"/>
                <a:ea typeface="Asta Sans"/>
                <a:cs typeface="Asta Sans"/>
                <a:sym typeface="Asta Sans"/>
              </a:rPr>
              <a:t> Pull Request 포맷 고정 - 예시</a:t>
            </a:r>
            <a:endParaRPr>
              <a:latin typeface="Asta Sans"/>
              <a:ea typeface="Asta Sans"/>
              <a:cs typeface="Asta Sans"/>
              <a:sym typeface="Asta Sans"/>
            </a:endParaRPr>
          </a:p>
        </p:txBody>
      </p:sp>
      <p:pic>
        <p:nvPicPr>
          <p:cNvPr id="302" name="Google Shape;302;g3f4729efffc_2_29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67013" y="1648312"/>
            <a:ext cx="6293825" cy="4582275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03" name="Google Shape;303;g3f4729efffc_2_291"/>
          <p:cNvSpPr txBox="1"/>
          <p:nvPr/>
        </p:nvSpPr>
        <p:spPr>
          <a:xfrm>
            <a:off x="3432988" y="6303900"/>
            <a:ext cx="54117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91440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chemeClr val="dk1"/>
                </a:solidFill>
                <a:latin typeface="Asta Sans"/>
                <a:ea typeface="Asta Sans"/>
                <a:cs typeface="Asta Sans"/>
                <a:sym typeface="Asta Sans"/>
              </a:rPr>
              <a:t>Pull Request Message</a:t>
            </a:r>
            <a:endParaRPr/>
          </a:p>
        </p:txBody>
      </p:sp>
      <p:sp>
        <p:nvSpPr>
          <p:cNvPr id="304" name="Google Shape;304;g3f4729efffc_2_291"/>
          <p:cNvSpPr/>
          <p:nvPr/>
        </p:nvSpPr>
        <p:spPr>
          <a:xfrm>
            <a:off x="3802463" y="2042775"/>
            <a:ext cx="4474800" cy="26916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5" name="Google Shape;305;g3f4729efffc_2_291"/>
          <p:cNvSpPr txBox="1"/>
          <p:nvPr/>
        </p:nvSpPr>
        <p:spPr>
          <a:xfrm>
            <a:off x="367275" y="2255825"/>
            <a:ext cx="28632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>
                <a:solidFill>
                  <a:schemeClr val="dk1"/>
                </a:solidFill>
                <a:latin typeface="Asta Sans"/>
                <a:ea typeface="Asta Sans"/>
                <a:cs typeface="Asta Sans"/>
                <a:sym typeface="Asta Sans"/>
              </a:rPr>
              <a:t>Assignee</a:t>
            </a:r>
            <a:endParaRPr sz="2000" b="1">
              <a:solidFill>
                <a:schemeClr val="dk1"/>
              </a:solidFill>
              <a:latin typeface="Asta Sans"/>
              <a:ea typeface="Asta Sans"/>
              <a:cs typeface="Asta Sans"/>
              <a:sym typeface="Asta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chemeClr val="dk1"/>
                </a:solidFill>
                <a:latin typeface="Asta Sans"/>
                <a:ea typeface="Asta Sans"/>
                <a:cs typeface="Asta Sans"/>
                <a:sym typeface="Asta Sans"/>
              </a:rPr>
              <a:t>양식 채운 뒤 Review 요청</a:t>
            </a:r>
            <a:endParaRPr sz="2000"/>
          </a:p>
        </p:txBody>
      </p:sp>
      <p:cxnSp>
        <p:nvCxnSpPr>
          <p:cNvPr id="306" name="Google Shape;306;g3f4729efffc_2_291"/>
          <p:cNvCxnSpPr/>
          <p:nvPr/>
        </p:nvCxnSpPr>
        <p:spPr>
          <a:xfrm>
            <a:off x="1715263" y="3163775"/>
            <a:ext cx="1779900" cy="164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f4729efffc_2_304"/>
          <p:cNvSpPr txBox="1">
            <a:spLocks noGrp="1"/>
          </p:cNvSpPr>
          <p:nvPr>
            <p:ph type="title"/>
          </p:nvPr>
        </p:nvSpPr>
        <p:spPr>
          <a:xfrm>
            <a:off x="605980" y="310143"/>
            <a:ext cx="10515600" cy="6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ko-KR" sz="3200" b="1">
                <a:latin typeface="Asta Sans"/>
                <a:ea typeface="Asta Sans"/>
                <a:cs typeface="Asta Sans"/>
                <a:sym typeface="Asta Sans"/>
              </a:rPr>
              <a:t> Pull Request 포맷 고정 - 예시</a:t>
            </a:r>
            <a:endParaRPr>
              <a:latin typeface="Asta Sans"/>
              <a:ea typeface="Asta Sans"/>
              <a:cs typeface="Asta Sans"/>
              <a:sym typeface="Asta Sans"/>
            </a:endParaRPr>
          </a:p>
        </p:txBody>
      </p:sp>
      <p:pic>
        <p:nvPicPr>
          <p:cNvPr id="312" name="Google Shape;312;g3f4729efffc_2_30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67013" y="1648312"/>
            <a:ext cx="6293825" cy="4582275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13" name="Google Shape;313;g3f4729efffc_2_304"/>
          <p:cNvSpPr txBox="1"/>
          <p:nvPr/>
        </p:nvSpPr>
        <p:spPr>
          <a:xfrm>
            <a:off x="3432988" y="6303900"/>
            <a:ext cx="54117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91440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chemeClr val="dk1"/>
                </a:solidFill>
                <a:latin typeface="Asta Sans"/>
                <a:ea typeface="Asta Sans"/>
                <a:cs typeface="Asta Sans"/>
                <a:sym typeface="Asta Sans"/>
              </a:rPr>
              <a:t>Pull Request Message</a:t>
            </a:r>
            <a:endParaRPr/>
          </a:p>
        </p:txBody>
      </p:sp>
      <p:sp>
        <p:nvSpPr>
          <p:cNvPr id="314" name="Google Shape;314;g3f4729efffc_2_304"/>
          <p:cNvSpPr/>
          <p:nvPr/>
        </p:nvSpPr>
        <p:spPr>
          <a:xfrm>
            <a:off x="3802463" y="5390525"/>
            <a:ext cx="4474800" cy="4710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315" name="Google Shape;315;g3f4729efffc_2_304"/>
          <p:cNvCxnSpPr/>
          <p:nvPr/>
        </p:nvCxnSpPr>
        <p:spPr>
          <a:xfrm flipH="1">
            <a:off x="8466663" y="4377950"/>
            <a:ext cx="1095300" cy="1088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16" name="Google Shape;316;g3f4729efffc_2_304"/>
          <p:cNvSpPr txBox="1"/>
          <p:nvPr/>
        </p:nvSpPr>
        <p:spPr>
          <a:xfrm>
            <a:off x="9751375" y="3954650"/>
            <a:ext cx="24717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>
                <a:solidFill>
                  <a:schemeClr val="dk1"/>
                </a:solidFill>
                <a:latin typeface="Asta Sans"/>
                <a:ea typeface="Asta Sans"/>
                <a:cs typeface="Asta Sans"/>
                <a:sym typeface="Asta Sans"/>
              </a:rPr>
              <a:t>Reviewer</a:t>
            </a:r>
            <a:endParaRPr sz="2000" b="1">
              <a:solidFill>
                <a:schemeClr val="dk1"/>
              </a:solidFill>
              <a:latin typeface="Asta Sans"/>
              <a:ea typeface="Asta Sans"/>
              <a:cs typeface="Asta Sans"/>
              <a:sym typeface="Asta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chemeClr val="dk1"/>
                </a:solidFill>
                <a:latin typeface="Asta Sans"/>
                <a:ea typeface="Asta Sans"/>
                <a:cs typeface="Asta Sans"/>
                <a:sym typeface="Asta Sans"/>
              </a:rPr>
              <a:t>approve 전에 check</a:t>
            </a:r>
            <a:endParaRPr sz="2000"/>
          </a:p>
        </p:txBody>
      </p:sp>
      <p:sp>
        <p:nvSpPr>
          <p:cNvPr id="317" name="Google Shape;317;g3f4729efffc_2_304"/>
          <p:cNvSpPr/>
          <p:nvPr/>
        </p:nvSpPr>
        <p:spPr>
          <a:xfrm>
            <a:off x="3802463" y="2042775"/>
            <a:ext cx="4474800" cy="26916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8" name="Google Shape;318;g3f4729efffc_2_304"/>
          <p:cNvSpPr txBox="1"/>
          <p:nvPr/>
        </p:nvSpPr>
        <p:spPr>
          <a:xfrm>
            <a:off x="367275" y="2255825"/>
            <a:ext cx="28632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>
                <a:solidFill>
                  <a:schemeClr val="dk1"/>
                </a:solidFill>
                <a:latin typeface="Asta Sans"/>
                <a:ea typeface="Asta Sans"/>
                <a:cs typeface="Asta Sans"/>
                <a:sym typeface="Asta Sans"/>
              </a:rPr>
              <a:t>Assignee</a:t>
            </a:r>
            <a:endParaRPr sz="2000" b="1">
              <a:solidFill>
                <a:schemeClr val="dk1"/>
              </a:solidFill>
              <a:latin typeface="Asta Sans"/>
              <a:ea typeface="Asta Sans"/>
              <a:cs typeface="Asta Sans"/>
              <a:sym typeface="Asta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chemeClr val="dk1"/>
                </a:solidFill>
                <a:latin typeface="Asta Sans"/>
                <a:ea typeface="Asta Sans"/>
                <a:cs typeface="Asta Sans"/>
                <a:sym typeface="Asta Sans"/>
              </a:rPr>
              <a:t>양식 채운 뒤 Review 요청</a:t>
            </a:r>
            <a:endParaRPr sz="2000"/>
          </a:p>
        </p:txBody>
      </p:sp>
      <p:cxnSp>
        <p:nvCxnSpPr>
          <p:cNvPr id="319" name="Google Shape;319;g3f4729efffc_2_304"/>
          <p:cNvCxnSpPr/>
          <p:nvPr/>
        </p:nvCxnSpPr>
        <p:spPr>
          <a:xfrm>
            <a:off x="1715263" y="3163775"/>
            <a:ext cx="1779900" cy="164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f44738b4e9_6_65"/>
          <p:cNvSpPr txBox="1">
            <a:spLocks noGrp="1"/>
          </p:cNvSpPr>
          <p:nvPr>
            <p:ph type="title"/>
          </p:nvPr>
        </p:nvSpPr>
        <p:spPr>
          <a:xfrm>
            <a:off x="605980" y="310143"/>
            <a:ext cx="10515600" cy="6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ko-KR" sz="3200" b="1">
                <a:latin typeface="Asta Sans"/>
                <a:ea typeface="Asta Sans"/>
                <a:cs typeface="Asta Sans"/>
                <a:sym typeface="Asta Sans"/>
              </a:rPr>
              <a:t> Pull Request 봇 사용</a:t>
            </a:r>
            <a:endParaRPr>
              <a:latin typeface="Asta Sans"/>
              <a:ea typeface="Asta Sans"/>
              <a:cs typeface="Asta Sans"/>
              <a:sym typeface="Asta Sans"/>
            </a:endParaRPr>
          </a:p>
        </p:txBody>
      </p:sp>
      <p:sp>
        <p:nvSpPr>
          <p:cNvPr id="325" name="Google Shape;325;g3f44738b4e9_6_65"/>
          <p:cNvSpPr txBox="1">
            <a:spLocks noGrp="1"/>
          </p:cNvSpPr>
          <p:nvPr>
            <p:ph type="body" idx="1"/>
          </p:nvPr>
        </p:nvSpPr>
        <p:spPr>
          <a:xfrm>
            <a:off x="605975" y="1064246"/>
            <a:ext cx="11378400" cy="492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sta Sans"/>
              <a:buChar char="●"/>
            </a:pPr>
            <a:r>
              <a:rPr lang="ko-KR">
                <a:latin typeface="Asta Sans"/>
                <a:ea typeface="Asta Sans"/>
                <a:cs typeface="Asta Sans"/>
                <a:sym typeface="Asta Sans"/>
              </a:rPr>
              <a:t>Description</a:t>
            </a:r>
            <a:endParaRPr>
              <a:latin typeface="Asta Sans"/>
              <a:ea typeface="Asta Sans"/>
              <a:cs typeface="Asta Sans"/>
              <a:sym typeface="Asta Sans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sta Sans"/>
              <a:buChar char="○"/>
            </a:pPr>
            <a:r>
              <a:rPr lang="ko-KR">
                <a:latin typeface="Asta Sans"/>
                <a:ea typeface="Asta Sans"/>
                <a:cs typeface="Asta Sans"/>
                <a:sym typeface="Asta Sans"/>
              </a:rPr>
              <a:t>coverage.yml 파일을 추가하여 PR마다 Coverage Test 수행</a:t>
            </a:r>
            <a:br>
              <a:rPr lang="ko-KR">
                <a:latin typeface="Asta Sans"/>
                <a:ea typeface="Asta Sans"/>
                <a:cs typeface="Asta Sans"/>
                <a:sym typeface="Asta Sans"/>
              </a:rPr>
            </a:br>
            <a:endParaRPr>
              <a:latin typeface="Asta Sans"/>
              <a:ea typeface="Asta Sans"/>
              <a:cs typeface="Asta Sans"/>
              <a:sym typeface="Asta Sans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sta Sans"/>
              <a:buChar char="○"/>
            </a:pPr>
            <a:r>
              <a:rPr lang="ko-KR">
                <a:latin typeface="Asta Sans"/>
                <a:ea typeface="Asta Sans"/>
                <a:cs typeface="Asta Sans"/>
                <a:sym typeface="Asta Sans"/>
              </a:rPr>
              <a:t>Build, Test, Coverage 측정 자동화, 가시화</a:t>
            </a:r>
            <a:br>
              <a:rPr lang="ko-KR">
                <a:latin typeface="Asta Sans"/>
                <a:ea typeface="Asta Sans"/>
                <a:cs typeface="Asta Sans"/>
                <a:sym typeface="Asta Sans"/>
              </a:rPr>
            </a:br>
            <a:endParaRPr>
              <a:latin typeface="Asta Sans"/>
              <a:ea typeface="Asta Sans"/>
              <a:cs typeface="Asta Sans"/>
              <a:sym typeface="Asta Sans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sta Sans"/>
              <a:buChar char="○"/>
            </a:pPr>
            <a:r>
              <a:rPr lang="ko-KR">
                <a:latin typeface="Asta Sans"/>
                <a:ea typeface="Asta Sans"/>
                <a:cs typeface="Asta Sans"/>
                <a:sym typeface="Asta Sans"/>
              </a:rPr>
              <a:t>새로운 PR에 대한 Coverage 변화량 (delta) 를 볼 수 있음</a:t>
            </a:r>
            <a:endParaRPr>
              <a:latin typeface="Asta Sans"/>
              <a:ea typeface="Asta Sans"/>
              <a:cs typeface="Asta Sans"/>
              <a:sym typeface="Asta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sta Sans"/>
              <a:ea typeface="Asta Sans"/>
              <a:cs typeface="Asta Sans"/>
              <a:sym typeface="Asta Sa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sta Sans"/>
              <a:ea typeface="Asta Sans"/>
              <a:cs typeface="Asta Sans"/>
              <a:sym typeface="Asta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sta Sans"/>
              <a:ea typeface="Asta Sans"/>
              <a:cs typeface="Asta Sans"/>
              <a:sym typeface="Asta Sa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0" name="Google Shape;330;g3f4729efffc_2_2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74787" y="1744325"/>
            <a:ext cx="4942338" cy="4422390"/>
          </a:xfrm>
          <a:prstGeom prst="rect">
            <a:avLst/>
          </a:prstGeom>
          <a:noFill/>
          <a:ln w="85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cxnSp>
        <p:nvCxnSpPr>
          <p:cNvPr id="331" name="Google Shape;331;g3f4729efffc_2_277"/>
          <p:cNvCxnSpPr/>
          <p:nvPr/>
        </p:nvCxnSpPr>
        <p:spPr>
          <a:xfrm>
            <a:off x="4904840" y="4006881"/>
            <a:ext cx="1291500" cy="0"/>
          </a:xfrm>
          <a:prstGeom prst="straightConnector1">
            <a:avLst/>
          </a:prstGeom>
          <a:noFill/>
          <a:ln w="17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32" name="Google Shape;332;g3f4729efffc_2_277"/>
          <p:cNvSpPr txBox="1">
            <a:spLocks noGrp="1"/>
          </p:cNvSpPr>
          <p:nvPr>
            <p:ph type="title"/>
          </p:nvPr>
        </p:nvSpPr>
        <p:spPr>
          <a:xfrm>
            <a:off x="605980" y="310143"/>
            <a:ext cx="10515600" cy="6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ko-KR" sz="3200" b="1">
                <a:latin typeface="Asta Sans"/>
                <a:ea typeface="Asta Sans"/>
                <a:cs typeface="Asta Sans"/>
                <a:sym typeface="Asta Sans"/>
              </a:rPr>
              <a:t> Pull Request 봇 사용 - 예시</a:t>
            </a:r>
            <a:endParaRPr>
              <a:latin typeface="Asta Sans"/>
              <a:ea typeface="Asta Sans"/>
              <a:cs typeface="Asta Sans"/>
              <a:sym typeface="Asta Sans"/>
            </a:endParaRPr>
          </a:p>
        </p:txBody>
      </p:sp>
      <p:pic>
        <p:nvPicPr>
          <p:cNvPr id="333" name="Google Shape;333;g3f4729efffc_2_2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20250" y="1744325"/>
            <a:ext cx="2503019" cy="4238910"/>
          </a:xfrm>
          <a:prstGeom prst="rect">
            <a:avLst/>
          </a:prstGeom>
          <a:noFill/>
          <a:ln w="85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34" name="Google Shape;334;g3f4729efffc_2_277"/>
          <p:cNvSpPr/>
          <p:nvPr/>
        </p:nvSpPr>
        <p:spPr>
          <a:xfrm>
            <a:off x="6391623" y="3368173"/>
            <a:ext cx="3806700" cy="1441800"/>
          </a:xfrm>
          <a:prstGeom prst="rect">
            <a:avLst/>
          </a:prstGeom>
          <a:noFill/>
          <a:ln w="256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2050" tIns="82050" rIns="82050" bIns="820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56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35" name="Google Shape;335;g3f4729efffc_2_277"/>
          <p:cNvSpPr txBox="1"/>
          <p:nvPr/>
        </p:nvSpPr>
        <p:spPr>
          <a:xfrm>
            <a:off x="2255538" y="6166725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chemeClr val="dk1"/>
                </a:solidFill>
                <a:latin typeface="Asta Sans"/>
                <a:ea typeface="Asta Sans"/>
                <a:cs typeface="Asta Sans"/>
                <a:sym typeface="Asta Sans"/>
              </a:rPr>
              <a:t>Coverage 자동 측정</a:t>
            </a:r>
            <a:endParaRPr/>
          </a:p>
        </p:txBody>
      </p:sp>
      <p:sp>
        <p:nvSpPr>
          <p:cNvPr id="336" name="Google Shape;336;g3f4729efffc_2_277"/>
          <p:cNvSpPr txBox="1"/>
          <p:nvPr/>
        </p:nvSpPr>
        <p:spPr>
          <a:xfrm>
            <a:off x="6945938" y="6166725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chemeClr val="dk1"/>
                </a:solidFill>
                <a:latin typeface="Asta Sans"/>
                <a:ea typeface="Asta Sans"/>
                <a:cs typeface="Asta Sans"/>
                <a:sym typeface="Asta Sans"/>
              </a:rPr>
              <a:t>PR Comment 작성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f4729efffc_2_202"/>
          <p:cNvSpPr txBox="1">
            <a:spLocks noGrp="1"/>
          </p:cNvSpPr>
          <p:nvPr>
            <p:ph type="body" idx="1"/>
          </p:nvPr>
        </p:nvSpPr>
        <p:spPr>
          <a:xfrm>
            <a:off x="1632000" y="1860184"/>
            <a:ext cx="8928000" cy="253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ko-KR" sz="4000">
                <a:latin typeface="Asta Sans"/>
                <a:ea typeface="Asta Sans"/>
                <a:cs typeface="Asta Sans"/>
                <a:sym typeface="Asta Sans"/>
              </a:rPr>
              <a:t>Project 시연</a:t>
            </a:r>
            <a:endParaRPr sz="4000">
              <a:latin typeface="Asta Sans"/>
              <a:ea typeface="Asta Sans"/>
              <a:cs typeface="Asta Sans"/>
              <a:sym typeface="Asta San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f4729efffc_17_42"/>
          <p:cNvSpPr txBox="1">
            <a:spLocks noGrp="1"/>
          </p:cNvSpPr>
          <p:nvPr>
            <p:ph type="title"/>
          </p:nvPr>
        </p:nvSpPr>
        <p:spPr>
          <a:xfrm>
            <a:off x="605980" y="310143"/>
            <a:ext cx="10515600" cy="649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200" b="1"/>
              <a:t>[prompt] 구구단</a:t>
            </a:r>
            <a:endParaRPr sz="3200" b="1" i="1"/>
          </a:p>
        </p:txBody>
      </p:sp>
      <p:sp>
        <p:nvSpPr>
          <p:cNvPr id="347" name="Google Shape;347;g3f4729efffc_17_42"/>
          <p:cNvSpPr txBox="1"/>
          <p:nvPr/>
        </p:nvSpPr>
        <p:spPr>
          <a:xfrm>
            <a:off x="348000" y="1365275"/>
            <a:ext cx="6324300" cy="51873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rgbClr val="1155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3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Class Calculator {</a:t>
            </a:r>
            <a:endParaRPr sz="13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3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init(title) {</a:t>
            </a:r>
            <a:endParaRPr sz="13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3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	  This.title = title;</a:t>
            </a:r>
            <a:endParaRPr sz="13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3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sz="13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3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mul(a, b) {</a:t>
            </a:r>
            <a:endParaRPr sz="13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3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	  printn a;</a:t>
            </a:r>
            <a:endParaRPr sz="13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3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	  printn " x ";</a:t>
            </a:r>
            <a:endParaRPr sz="13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3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	  printn b;</a:t>
            </a:r>
            <a:endParaRPr sz="13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3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	  printn " = ";</a:t>
            </a:r>
            <a:endParaRPr sz="13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3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	  print a * b;</a:t>
            </a:r>
            <a:endParaRPr sz="13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3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sz="13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3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3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3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var calc = Calculator("구구단");</a:t>
            </a:r>
            <a:endParaRPr sz="13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3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ko-KR" sz="1300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ko-KR" sz="13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(var dan = 2; dan &lt; 10; dan = dan + 1) {</a:t>
            </a:r>
            <a:endParaRPr sz="13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3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print "================================";</a:t>
            </a:r>
            <a:endParaRPr sz="13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3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printn calc.title;</a:t>
            </a:r>
            <a:endParaRPr sz="13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3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printn ": ";</a:t>
            </a:r>
            <a:endParaRPr sz="13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3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print dan;</a:t>
            </a:r>
            <a:endParaRPr sz="13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3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print "================================";</a:t>
            </a:r>
            <a:endParaRPr sz="13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3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for (var i = 1; i &lt; 10; i = i + 1) {</a:t>
            </a:r>
            <a:endParaRPr sz="13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3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	  calc.mul(dan, i);</a:t>
            </a:r>
            <a:endParaRPr sz="13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3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sz="13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3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3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48" name="Google Shape;348;g3f4729efffc_17_42"/>
          <p:cNvSpPr txBox="1"/>
          <p:nvPr/>
        </p:nvSpPr>
        <p:spPr>
          <a:xfrm>
            <a:off x="7951450" y="2628575"/>
            <a:ext cx="3975900" cy="3986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3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================================</a:t>
            </a:r>
            <a:endParaRPr sz="13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3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구구단: 2</a:t>
            </a:r>
            <a:endParaRPr sz="13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3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================================</a:t>
            </a:r>
            <a:endParaRPr sz="13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3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2 x 1 = 2</a:t>
            </a:r>
            <a:endParaRPr sz="13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3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2 x 2 = 4</a:t>
            </a:r>
            <a:endParaRPr sz="13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3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2 x 3 = 6</a:t>
            </a:r>
            <a:endParaRPr sz="13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3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2 x 4 = 8</a:t>
            </a:r>
            <a:endParaRPr sz="13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3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2 x 5 = 10</a:t>
            </a:r>
            <a:endParaRPr sz="13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3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2 x 6 = 12</a:t>
            </a:r>
            <a:endParaRPr sz="13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3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2 x 7 = 14</a:t>
            </a:r>
            <a:endParaRPr sz="13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3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2 x 8 = 16</a:t>
            </a:r>
            <a:endParaRPr sz="13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3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2 x 9 = 18</a:t>
            </a:r>
            <a:endParaRPr sz="13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3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================================</a:t>
            </a:r>
            <a:endParaRPr sz="13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3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구구단: 3</a:t>
            </a:r>
            <a:endParaRPr sz="13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3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================================</a:t>
            </a:r>
            <a:endParaRPr sz="13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3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3 x 1 = 3</a:t>
            </a:r>
            <a:endParaRPr sz="13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3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3 x 2 = 6</a:t>
            </a:r>
            <a:endParaRPr sz="13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3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3 x 3 = 9</a:t>
            </a:r>
            <a:endParaRPr sz="13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3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… </a:t>
            </a:r>
            <a:endParaRPr sz="13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349" name="Google Shape;349;g3f4729efffc_17_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92678" y="1063760"/>
            <a:ext cx="8901271" cy="1461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f4729efffc_17_4"/>
          <p:cNvSpPr txBox="1">
            <a:spLocks noGrp="1"/>
          </p:cNvSpPr>
          <p:nvPr>
            <p:ph type="title"/>
          </p:nvPr>
        </p:nvSpPr>
        <p:spPr>
          <a:xfrm>
            <a:off x="605980" y="310143"/>
            <a:ext cx="10515600" cy="6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ko-KR" sz="3200" b="1">
                <a:latin typeface="Asta Sans"/>
                <a:ea typeface="Asta Sans"/>
                <a:cs typeface="Asta Sans"/>
                <a:sym typeface="Asta Sans"/>
              </a:rPr>
              <a:t>[run] 동물 보호소 프로젝트</a:t>
            </a:r>
            <a:endParaRPr sz="3200" b="1">
              <a:latin typeface="Asta Sans"/>
              <a:ea typeface="Asta Sans"/>
              <a:cs typeface="Asta Sans"/>
              <a:sym typeface="Asta Sans"/>
            </a:endParaRPr>
          </a:p>
        </p:txBody>
      </p:sp>
      <p:sp>
        <p:nvSpPr>
          <p:cNvPr id="355" name="Google Shape;355;g3f4729efffc_17_4"/>
          <p:cNvSpPr txBox="1">
            <a:spLocks noGrp="1"/>
          </p:cNvSpPr>
          <p:nvPr>
            <p:ph type="body" idx="1"/>
          </p:nvPr>
        </p:nvSpPr>
        <p:spPr>
          <a:xfrm>
            <a:off x="605975" y="1316375"/>
            <a:ext cx="11378400" cy="492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sta Sans"/>
              <a:buChar char="●"/>
            </a:pPr>
            <a:endParaRPr>
              <a:latin typeface="Asta Sans"/>
              <a:ea typeface="Asta Sans"/>
              <a:cs typeface="Asta Sans"/>
              <a:sym typeface="Asta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sta Sans"/>
              <a:ea typeface="Asta Sans"/>
              <a:cs typeface="Asta Sans"/>
              <a:sym typeface="Asta Sa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sta Sans"/>
              <a:ea typeface="Asta Sans"/>
              <a:cs typeface="Asta Sans"/>
              <a:sym typeface="Asta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sta Sans"/>
              <a:ea typeface="Asta Sans"/>
              <a:cs typeface="Asta Sans"/>
              <a:sym typeface="Asta Sans"/>
            </a:endParaRPr>
          </a:p>
        </p:txBody>
      </p:sp>
      <p:pic>
        <p:nvPicPr>
          <p:cNvPr id="356" name="Google Shape;356;g3f4729efffc_17_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825" y="1257075"/>
            <a:ext cx="5108475" cy="3668799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g3f4729efffc_17_4"/>
          <p:cNvSpPr txBox="1"/>
          <p:nvPr/>
        </p:nvSpPr>
        <p:spPr>
          <a:xfrm>
            <a:off x="5363025" y="1080875"/>
            <a:ext cx="3363300" cy="5710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import "</a:t>
            </a:r>
            <a:r>
              <a:rPr lang="ko-KR" sz="1000" b="1">
                <a:solidFill>
                  <a:srgbClr val="005AB4"/>
                </a:solidFill>
                <a:latin typeface="Courier New"/>
                <a:ea typeface="Courier New"/>
                <a:cs typeface="Courier New"/>
                <a:sym typeface="Courier New"/>
              </a:rPr>
              <a:t>shelter_utils.txt</a:t>
            </a:r>
            <a:r>
              <a:rPr lang="ko-KR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" alias shelter;</a:t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Class </a:t>
            </a:r>
            <a:r>
              <a:rPr lang="ko-KR" sz="1300" b="1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Animal </a:t>
            </a:r>
            <a:r>
              <a:rPr lang="ko-KR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init(name, weight) {</a:t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This.name = name;</a:t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This.weight = weight;</a:t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speak() {</a:t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print This.name + " makes a sound.";</a:t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feed(portion) {</a:t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print This.name + "'s meal is ready:";</a:t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print portion;</a:t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000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ko-KR" sz="1000" b="1" u="sng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totalFood</a:t>
            </a:r>
            <a:r>
              <a:rPr lang="ko-KR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(portion, days) {</a:t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if (days &lt; 1) return 0;</a:t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return portion + This.totalFood(portion, days - 1);</a:t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Class </a:t>
            </a:r>
            <a:r>
              <a:rPr lang="ko-KR" sz="1300" b="1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Dog </a:t>
            </a:r>
            <a:r>
              <a:rPr lang="ko-KR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ko-KR" sz="10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Animal </a:t>
            </a:r>
            <a:r>
              <a:rPr lang="ko-KR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speak() {</a:t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print This.name + " says: Woof";</a:t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Class </a:t>
            </a:r>
            <a:r>
              <a:rPr lang="ko-KR" sz="1300" b="1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Cat </a:t>
            </a:r>
            <a:r>
              <a:rPr lang="ko-KR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ko-KR" sz="10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Animal </a:t>
            </a:r>
            <a:r>
              <a:rPr lang="ko-KR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speak() {</a:t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print This.name + " says: Meow";</a:t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58" name="Google Shape;358;g3f4729efffc_17_4"/>
          <p:cNvSpPr txBox="1"/>
          <p:nvPr/>
        </p:nvSpPr>
        <p:spPr>
          <a:xfrm>
            <a:off x="9287975" y="804875"/>
            <a:ext cx="2696400" cy="8004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0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Func </a:t>
            </a:r>
            <a:r>
              <a:rPr lang="ko-KR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foodPortion</a:t>
            </a:r>
            <a:r>
              <a:rPr lang="ko-KR" sz="10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(weight) {</a:t>
            </a:r>
            <a:endParaRPr sz="10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0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weight / 2;</a:t>
            </a:r>
            <a:endParaRPr sz="10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0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var dailyVisitors = 12;</a:t>
            </a:r>
            <a:endParaRPr sz="10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59" name="Google Shape;359;g3f4729efffc_17_4"/>
          <p:cNvSpPr txBox="1"/>
          <p:nvPr/>
        </p:nvSpPr>
        <p:spPr>
          <a:xfrm>
            <a:off x="8364275" y="1835075"/>
            <a:ext cx="3620100" cy="49563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0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var d = Dog("Rex", 20);</a:t>
            </a:r>
            <a:endParaRPr sz="10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0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var c = Cat("Nabi", 4);</a:t>
            </a:r>
            <a:endParaRPr sz="10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0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print "&lt;Morning roll call&gt;";</a:t>
            </a:r>
            <a:endParaRPr sz="1000" b="1">
              <a:solidFill>
                <a:schemeClr val="accent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000" b="1">
                <a:solidFill>
                  <a:srgbClr val="005AB4"/>
                </a:solidFill>
                <a:latin typeface="Courier New"/>
                <a:ea typeface="Courier New"/>
                <a:cs typeface="Courier New"/>
                <a:sym typeface="Courier New"/>
              </a:rPr>
              <a:t>for (var i = 0; i &lt; 2; i = i + 1) {</a:t>
            </a:r>
            <a:endParaRPr sz="1000" b="1">
              <a:solidFill>
                <a:srgbClr val="005AB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0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d.</a:t>
            </a:r>
            <a:r>
              <a:rPr lang="ko-KR" sz="1000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speak();</a:t>
            </a:r>
            <a:endParaRPr sz="1000" b="1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0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c.</a:t>
            </a:r>
            <a:r>
              <a:rPr lang="ko-KR" sz="1000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speak();</a:t>
            </a:r>
            <a:endParaRPr sz="1000" b="1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0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0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print "&lt;Feeding time&gt;";</a:t>
            </a:r>
            <a:endParaRPr sz="10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0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d.feed(</a:t>
            </a:r>
            <a:r>
              <a:rPr lang="ko-KR" sz="1000" b="1">
                <a:solidFill>
                  <a:srgbClr val="005AB4"/>
                </a:solidFill>
                <a:latin typeface="Courier New"/>
                <a:ea typeface="Courier New"/>
                <a:cs typeface="Courier New"/>
                <a:sym typeface="Courier New"/>
              </a:rPr>
              <a:t>shelter.foodPortion</a:t>
            </a:r>
            <a:r>
              <a:rPr lang="ko-KR" sz="10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(d.weight));</a:t>
            </a:r>
            <a:endParaRPr sz="10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0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c.feed(</a:t>
            </a:r>
            <a:r>
              <a:rPr lang="ko-KR" sz="1000" b="1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shelter.foodPortion</a:t>
            </a:r>
            <a:r>
              <a:rPr lang="ko-KR" sz="10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(c.weight));</a:t>
            </a:r>
            <a:endParaRPr sz="10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0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print "3-day food total for Rex:";</a:t>
            </a:r>
            <a:endParaRPr sz="10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0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print d.totalFood(</a:t>
            </a:r>
            <a:r>
              <a:rPr lang="ko-KR" sz="1000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shelter.foodPortion</a:t>
            </a:r>
            <a:r>
              <a:rPr lang="ko-KR" sz="10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(d.weight), 3);</a:t>
            </a:r>
            <a:endParaRPr sz="10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0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print "3-day food total for Nabi:";</a:t>
            </a:r>
            <a:endParaRPr sz="10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0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print c.totalFood(</a:t>
            </a:r>
            <a:r>
              <a:rPr lang="ko-KR" sz="1000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shelter.foodPortion</a:t>
            </a:r>
            <a:r>
              <a:rPr lang="ko-KR" sz="10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(c.weight), 3);</a:t>
            </a:r>
            <a:endParaRPr sz="10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0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print "Is Rex an Animal?";</a:t>
            </a:r>
            <a:endParaRPr sz="10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0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print d </a:t>
            </a:r>
            <a:r>
              <a:rPr lang="ko-KR" sz="1000" b="1">
                <a:solidFill>
                  <a:schemeClr val="accent3"/>
                </a:solidFill>
                <a:latin typeface="Courier New"/>
                <a:ea typeface="Courier New"/>
                <a:cs typeface="Courier New"/>
                <a:sym typeface="Courier New"/>
              </a:rPr>
              <a:t>instanceof </a:t>
            </a:r>
            <a:r>
              <a:rPr lang="ko-KR" sz="10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Animal;</a:t>
            </a:r>
            <a:endParaRPr sz="10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0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print "Is Nabi an Animal?";</a:t>
            </a:r>
            <a:endParaRPr sz="10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0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print c </a:t>
            </a:r>
            <a:r>
              <a:rPr lang="ko-KR" sz="1000" b="1">
                <a:solidFill>
                  <a:schemeClr val="accent3"/>
                </a:solidFill>
                <a:latin typeface="Courier New"/>
                <a:ea typeface="Courier New"/>
                <a:cs typeface="Courier New"/>
                <a:sym typeface="Courier New"/>
              </a:rPr>
              <a:t>instanceof </a:t>
            </a:r>
            <a:r>
              <a:rPr lang="ko-KR" sz="10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Animal;</a:t>
            </a:r>
            <a:endParaRPr sz="10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0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print "Is Rex a Cat?";</a:t>
            </a:r>
            <a:endParaRPr sz="10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0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print d </a:t>
            </a:r>
            <a:r>
              <a:rPr lang="ko-KR" sz="1000" b="1">
                <a:solidFill>
                  <a:schemeClr val="accent3"/>
                </a:solidFill>
                <a:latin typeface="Courier New"/>
                <a:ea typeface="Courier New"/>
                <a:cs typeface="Courier New"/>
                <a:sym typeface="Courier New"/>
              </a:rPr>
              <a:t>instanceof </a:t>
            </a:r>
            <a:r>
              <a:rPr lang="ko-KR" sz="10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Cat;</a:t>
            </a:r>
            <a:endParaRPr sz="10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0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print "Today's shelter visitors:";</a:t>
            </a:r>
            <a:endParaRPr sz="10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print </a:t>
            </a:r>
            <a:r>
              <a:rPr lang="ko-KR" sz="1000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shelter.dailyVisitors;</a:t>
            </a:r>
            <a:endParaRPr sz="1000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f4729efffc_17_33"/>
          <p:cNvSpPr txBox="1">
            <a:spLocks noGrp="1"/>
          </p:cNvSpPr>
          <p:nvPr>
            <p:ph type="title"/>
          </p:nvPr>
        </p:nvSpPr>
        <p:spPr>
          <a:xfrm>
            <a:off x="605980" y="310143"/>
            <a:ext cx="10515600" cy="649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200" b="1"/>
              <a:t>[debug] watch, variable test</a:t>
            </a:r>
            <a:endParaRPr sz="3200" b="1"/>
          </a:p>
        </p:txBody>
      </p:sp>
      <p:pic>
        <p:nvPicPr>
          <p:cNvPr id="365" name="Google Shape;365;g3f4729efffc_17_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9925" y="1270451"/>
            <a:ext cx="3288300" cy="31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g3f4729efffc_17_33"/>
          <p:cNvSpPr txBox="1"/>
          <p:nvPr/>
        </p:nvSpPr>
        <p:spPr>
          <a:xfrm>
            <a:off x="5583200" y="1413100"/>
            <a:ext cx="6324300" cy="51873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30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[DEBUG] 소스코드 로딩: demo_debug_nested_scope.txt</a:t>
            </a:r>
            <a:endParaRPr sz="13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30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[DEBUG] 1번째 줄에서 정지 → var a = 1;</a:t>
            </a:r>
            <a:endParaRPr sz="13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 watch a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30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[WATCH] 'a' 감시 등록</a:t>
            </a:r>
            <a:endParaRPr sz="13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 watch b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30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[WATCH] 'b' 감시 등록</a:t>
            </a:r>
            <a:endParaRPr sz="13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300" b="1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&gt; watches</a:t>
            </a:r>
            <a:endParaRPr sz="1300"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[WATCH] a: 값을 참조할 수 없습니다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[WATCH] b: 값을 참조할 수 없습니다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300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&gt; break 9</a:t>
            </a:r>
            <a:endParaRPr sz="1300" b="1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[DEBUG] 9번째 줄에 breakpoint 설정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 continue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[DEBUG] 9번째 줄에서 정지 (breakpoint) → print a;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[WATCH] a = 2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[WATCH] b = 20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300" b="1">
                <a:solidFill>
                  <a:schemeClr val="accent6"/>
                </a:solidFill>
                <a:latin typeface="Courier New"/>
                <a:ea typeface="Courier New"/>
                <a:cs typeface="Courier New"/>
                <a:sym typeface="Courier New"/>
              </a:rPr>
              <a:t>&gt; inspect</a:t>
            </a:r>
            <a:endParaRPr sz="1300" b="1">
              <a:solidFill>
                <a:schemeClr val="accent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300" b="1">
                <a:solidFill>
                  <a:schemeClr val="accent6"/>
                </a:solidFill>
                <a:latin typeface="Courier New"/>
                <a:ea typeface="Courier New"/>
                <a:cs typeface="Courier New"/>
                <a:sym typeface="Courier New"/>
              </a:rPr>
              <a:t>--- 현재 스코프 변수 -----------------------------</a:t>
            </a:r>
            <a:endParaRPr sz="1300" b="1">
              <a:solidFill>
                <a:schemeClr val="accent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300" b="1">
                <a:solidFill>
                  <a:schemeClr val="accent6"/>
                </a:solidFill>
                <a:latin typeface="Courier New"/>
                <a:ea typeface="Courier New"/>
                <a:cs typeface="Courier New"/>
                <a:sym typeface="Courier New"/>
              </a:rPr>
              <a:t>[로컬] b = 20 (Number)</a:t>
            </a:r>
            <a:endParaRPr sz="1300" b="1">
              <a:solidFill>
                <a:schemeClr val="accent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300" b="1">
                <a:solidFill>
                  <a:schemeClr val="accent6"/>
                </a:solidFill>
                <a:latin typeface="Courier New"/>
                <a:ea typeface="Courier New"/>
                <a:cs typeface="Courier New"/>
                <a:sym typeface="Courier New"/>
              </a:rPr>
              <a:t>[로컬] a = 2 (Number)</a:t>
            </a:r>
            <a:endParaRPr sz="1300" b="1">
              <a:solidFill>
                <a:schemeClr val="accent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300" b="1">
                <a:solidFill>
                  <a:schemeClr val="accent6"/>
                </a:solidFill>
                <a:latin typeface="Courier New"/>
                <a:ea typeface="Courier New"/>
                <a:cs typeface="Courier New"/>
                <a:sym typeface="Courier New"/>
              </a:rPr>
              <a:t>[로컬] b = 10 (Number)</a:t>
            </a:r>
            <a:endParaRPr sz="1300" b="1">
              <a:solidFill>
                <a:schemeClr val="accent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300" b="1">
                <a:solidFill>
                  <a:schemeClr val="accent6"/>
                </a:solidFill>
                <a:latin typeface="Courier New"/>
                <a:ea typeface="Courier New"/>
                <a:cs typeface="Courier New"/>
                <a:sym typeface="Courier New"/>
              </a:rPr>
              <a:t>[전역] a = 1 (Number)</a:t>
            </a:r>
            <a:endParaRPr sz="1300" b="1">
              <a:solidFill>
                <a:schemeClr val="accent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 continue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20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f4729efffc_17_20"/>
          <p:cNvSpPr txBox="1">
            <a:spLocks noGrp="1"/>
          </p:cNvSpPr>
          <p:nvPr>
            <p:ph type="title"/>
          </p:nvPr>
        </p:nvSpPr>
        <p:spPr>
          <a:xfrm>
            <a:off x="605980" y="310143"/>
            <a:ext cx="10515600" cy="649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200" b="1"/>
              <a:t>[debug] class, import test</a:t>
            </a:r>
            <a:endParaRPr sz="3200" b="1"/>
          </a:p>
        </p:txBody>
      </p:sp>
      <p:pic>
        <p:nvPicPr>
          <p:cNvPr id="372" name="Google Shape;372;g3f4729efffc_17_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9550" y="1260601"/>
            <a:ext cx="4498375" cy="3334450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g3f4729efffc_17_20"/>
          <p:cNvSpPr txBox="1"/>
          <p:nvPr/>
        </p:nvSpPr>
        <p:spPr>
          <a:xfrm>
            <a:off x="5602975" y="2628575"/>
            <a:ext cx="6324300" cy="39867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30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[DEBUG] 소스코드 로딩: demo_debug_steps.txt</a:t>
            </a:r>
            <a:endParaRPr sz="13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[DEBUG] 1번째 줄에서 정지 → Class Robot {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 step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[DEBUG] 11번째 줄에서 정지 → var r = Robot("Wall-E", 10);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300" b="1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&gt; watch r</a:t>
            </a:r>
            <a:endParaRPr sz="1300"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[WATCH] 'r' 감시 등록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300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&gt; break 17</a:t>
            </a:r>
            <a:endParaRPr sz="1300" b="1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[DEBUG] 17번째 줄에 breakpoint 설정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300" b="1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&gt; Breakpoints</a:t>
            </a:r>
            <a:endParaRPr sz="1300" b="1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[DEBUG] 현재 breakpoint 목록: 17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 step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[DEBUG] </a:t>
            </a:r>
            <a:r>
              <a:rPr lang="ko-KR" sz="1300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13번째 줄</a:t>
            </a:r>
            <a:r>
              <a:rPr lang="ko-K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에서 정지 → for (var i = 0; i &lt; 3; i = i + 1) {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[WATCH] r = &lt;instance Robot </a:t>
            </a:r>
            <a:r>
              <a:rPr lang="ko-KR" sz="13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{name: Wall-E, </a:t>
            </a:r>
            <a:r>
              <a:rPr lang="ko-KR" sz="1300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power: 10</a:t>
            </a:r>
            <a:r>
              <a:rPr lang="ko-KR" sz="13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ko-K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300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&gt; continue</a:t>
            </a:r>
            <a:endParaRPr sz="1300" b="1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[DEBUG] </a:t>
            </a:r>
            <a:r>
              <a:rPr lang="ko-KR" sz="1300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17번째 줄</a:t>
            </a:r>
            <a:r>
              <a:rPr lang="ko-K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에서 정지 (breakpoint) → print r.power;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[WATCH] r = &lt;instance Robot </a:t>
            </a:r>
            <a:r>
              <a:rPr lang="ko-KR" sz="13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{name: Wall-E, </a:t>
            </a:r>
            <a:r>
              <a:rPr lang="ko-KR" sz="1300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power: 25</a:t>
            </a:r>
            <a:r>
              <a:rPr lang="ko-KR" sz="13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ko-K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 continue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25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f4729efffc_2_239"/>
          <p:cNvSpPr txBox="1">
            <a:spLocks noGrp="1"/>
          </p:cNvSpPr>
          <p:nvPr>
            <p:ph type="body" idx="1"/>
          </p:nvPr>
        </p:nvSpPr>
        <p:spPr>
          <a:xfrm>
            <a:off x="1632000" y="1860184"/>
            <a:ext cx="8928000" cy="253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ko-KR" sz="4000">
                <a:latin typeface="Asta Sans"/>
                <a:ea typeface="Asta Sans"/>
                <a:cs typeface="Asta Sans"/>
                <a:sym typeface="Asta Sans"/>
              </a:rPr>
              <a:t>회고</a:t>
            </a:r>
            <a:endParaRPr sz="4000">
              <a:latin typeface="Asta Sans"/>
              <a:ea typeface="Asta Sans"/>
              <a:cs typeface="Asta Sans"/>
              <a:sym typeface="Asta San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f4729efffc_26_37"/>
          <p:cNvSpPr txBox="1">
            <a:spLocks noGrp="1"/>
          </p:cNvSpPr>
          <p:nvPr>
            <p:ph type="title"/>
          </p:nvPr>
        </p:nvSpPr>
        <p:spPr>
          <a:xfrm>
            <a:off x="605980" y="310143"/>
            <a:ext cx="10515600" cy="6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ko-KR" sz="3200" b="1">
                <a:latin typeface="Asta Sans"/>
                <a:ea typeface="Asta Sans"/>
                <a:cs typeface="Asta Sans"/>
                <a:sym typeface="Asta Sans"/>
              </a:rPr>
              <a:t> 회고</a:t>
            </a:r>
            <a:endParaRPr>
              <a:latin typeface="Asta Sans"/>
              <a:ea typeface="Asta Sans"/>
              <a:cs typeface="Asta Sans"/>
              <a:sym typeface="Asta Sans"/>
            </a:endParaRPr>
          </a:p>
        </p:txBody>
      </p:sp>
      <p:sp>
        <p:nvSpPr>
          <p:cNvPr id="384" name="Google Shape;384;g3f4729efffc_26_37"/>
          <p:cNvSpPr txBox="1">
            <a:spLocks noGrp="1"/>
          </p:cNvSpPr>
          <p:nvPr>
            <p:ph type="body" idx="1"/>
          </p:nvPr>
        </p:nvSpPr>
        <p:spPr>
          <a:xfrm>
            <a:off x="605975" y="1172400"/>
            <a:ext cx="11378400" cy="492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sta Sans"/>
              <a:ea typeface="Asta Sans"/>
              <a:cs typeface="Asta Sans"/>
              <a:sym typeface="Asta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sta Sans"/>
              <a:ea typeface="Asta Sans"/>
              <a:cs typeface="Asta Sans"/>
              <a:sym typeface="Asta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sta Sans"/>
              <a:ea typeface="Asta Sans"/>
              <a:cs typeface="Asta Sans"/>
              <a:sym typeface="Asta Sans"/>
            </a:endParaRPr>
          </a:p>
        </p:txBody>
      </p:sp>
      <p:sp>
        <p:nvSpPr>
          <p:cNvPr id="385" name="Google Shape;385;g3f4729efffc_26_37"/>
          <p:cNvSpPr/>
          <p:nvPr/>
        </p:nvSpPr>
        <p:spPr>
          <a:xfrm>
            <a:off x="6860275" y="1576175"/>
            <a:ext cx="5034600" cy="1893600"/>
          </a:xfrm>
          <a:prstGeom prst="wedgeRoundRectCallout">
            <a:avLst>
              <a:gd name="adj1" fmla="val -55631"/>
              <a:gd name="adj2" fmla="val 38025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chemeClr val="dk1"/>
                </a:solidFill>
                <a:latin typeface="Asta Sans"/>
                <a:ea typeface="Asta Sans"/>
                <a:cs typeface="Asta Sans"/>
                <a:sym typeface="Asta Sans"/>
              </a:rPr>
              <a:t>각자의 방식으로 일하던 팀원들과 수업때 배운 </a:t>
            </a:r>
            <a:r>
              <a:rPr lang="ko-KR" sz="2400" b="1">
                <a:solidFill>
                  <a:schemeClr val="dk1"/>
                </a:solidFill>
                <a:latin typeface="Asta Sans"/>
                <a:ea typeface="Asta Sans"/>
                <a:cs typeface="Asta Sans"/>
                <a:sym typeface="Asta Sans"/>
              </a:rPr>
              <a:t>공통된 언어</a:t>
            </a:r>
            <a:r>
              <a:rPr lang="ko-KR" sz="2400">
                <a:solidFill>
                  <a:schemeClr val="dk1"/>
                </a:solidFill>
                <a:latin typeface="Asta Sans"/>
                <a:ea typeface="Asta Sans"/>
                <a:cs typeface="Asta Sans"/>
                <a:sym typeface="Asta Sans"/>
              </a:rPr>
              <a:t>로 소통</a:t>
            </a:r>
            <a:endParaRPr sz="2400">
              <a:solidFill>
                <a:schemeClr val="dk1"/>
              </a:solidFill>
              <a:latin typeface="Asta Sans"/>
              <a:ea typeface="Asta Sans"/>
              <a:cs typeface="Asta Sans"/>
              <a:sym typeface="Asta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6" name="Google Shape;386;g3f4729efffc_26_37"/>
          <p:cNvSpPr/>
          <p:nvPr/>
        </p:nvSpPr>
        <p:spPr>
          <a:xfrm>
            <a:off x="805250" y="1496800"/>
            <a:ext cx="4535700" cy="1999500"/>
          </a:xfrm>
          <a:prstGeom prst="wedgeRoundRectCallout">
            <a:avLst>
              <a:gd name="adj1" fmla="val 58090"/>
              <a:gd name="adj2" fmla="val 39063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chemeClr val="dk1"/>
                </a:solidFill>
                <a:latin typeface="Asta Sans"/>
                <a:ea typeface="Asta Sans"/>
                <a:cs typeface="Asta Sans"/>
                <a:sym typeface="Asta Sans"/>
              </a:rPr>
              <a:t>각자의 서로 다른 경력과 경험으로, 새로운 기법 및 </a:t>
            </a:r>
            <a:r>
              <a:rPr lang="ko-KR" sz="2400" b="1">
                <a:solidFill>
                  <a:schemeClr val="dk1"/>
                </a:solidFill>
                <a:latin typeface="Asta Sans"/>
                <a:ea typeface="Asta Sans"/>
                <a:cs typeface="Asta Sans"/>
                <a:sym typeface="Asta Sans"/>
              </a:rPr>
              <a:t>코드 리뷰 </a:t>
            </a:r>
            <a:r>
              <a:rPr lang="ko-KR" sz="2400">
                <a:solidFill>
                  <a:schemeClr val="dk1"/>
                </a:solidFill>
                <a:latin typeface="Asta Sans"/>
                <a:ea typeface="Asta Sans"/>
                <a:cs typeface="Asta Sans"/>
                <a:sym typeface="Asta Sans"/>
              </a:rPr>
              <a:t>방법</a:t>
            </a:r>
            <a:endParaRPr sz="2400">
              <a:solidFill>
                <a:schemeClr val="dk1"/>
              </a:solidFill>
              <a:latin typeface="Asta Sans"/>
              <a:ea typeface="Asta Sans"/>
              <a:cs typeface="Asta Sans"/>
              <a:sym typeface="Asta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7" name="Google Shape;387;g3f4729efffc_26_37"/>
          <p:cNvSpPr/>
          <p:nvPr/>
        </p:nvSpPr>
        <p:spPr>
          <a:xfrm>
            <a:off x="725725" y="4014125"/>
            <a:ext cx="4535700" cy="2460600"/>
          </a:xfrm>
          <a:prstGeom prst="wedgeRoundRectCallout">
            <a:avLst>
              <a:gd name="adj1" fmla="val 54750"/>
              <a:gd name="adj2" fmla="val -40784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chemeClr val="dk1"/>
                </a:solidFill>
                <a:latin typeface="Asta Sans"/>
                <a:ea typeface="Asta Sans"/>
                <a:cs typeface="Asta Sans"/>
                <a:sym typeface="Asta Sans"/>
              </a:rPr>
              <a:t>정제된 예제에서 수행하던 Refactoring을 실제로 적용하려니 쉽지 않다는 생각</a:t>
            </a:r>
            <a:br>
              <a:rPr lang="ko-KR" sz="2400">
                <a:solidFill>
                  <a:schemeClr val="dk1"/>
                </a:solidFill>
                <a:latin typeface="Asta Sans"/>
                <a:ea typeface="Asta Sans"/>
                <a:cs typeface="Asta Sans"/>
                <a:sym typeface="Asta Sans"/>
              </a:rPr>
            </a:br>
            <a:r>
              <a:rPr lang="ko-KR" sz="2400">
                <a:solidFill>
                  <a:schemeClr val="dk1"/>
                </a:solidFill>
                <a:latin typeface="Asta Sans"/>
                <a:ea typeface="Asta Sans"/>
                <a:cs typeface="Asta Sans"/>
                <a:sym typeface="Asta Sans"/>
              </a:rPr>
              <a:t>“</a:t>
            </a:r>
            <a:r>
              <a:rPr lang="ko-KR" sz="2400" b="1">
                <a:solidFill>
                  <a:schemeClr val="dk1"/>
                </a:solidFill>
                <a:latin typeface="Asta Sans"/>
                <a:ea typeface="Asta Sans"/>
                <a:cs typeface="Asta Sans"/>
                <a:sym typeface="Asta Sans"/>
              </a:rPr>
              <a:t>현업가서도 공부하자”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8" name="Google Shape;388;g3f4729efffc_26_37"/>
          <p:cNvSpPr/>
          <p:nvPr/>
        </p:nvSpPr>
        <p:spPr>
          <a:xfrm>
            <a:off x="6996350" y="3923375"/>
            <a:ext cx="4898400" cy="2460600"/>
          </a:xfrm>
          <a:prstGeom prst="wedgeRoundRectCallout">
            <a:avLst>
              <a:gd name="adj1" fmla="val -54721"/>
              <a:gd name="adj2" fmla="val -45918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chemeClr val="dk1"/>
                </a:solidFill>
                <a:latin typeface="Asta Sans"/>
                <a:ea typeface="Asta Sans"/>
                <a:cs typeface="Asta Sans"/>
                <a:sym typeface="Asta Sans"/>
              </a:rPr>
              <a:t>Claude의 압도적인 강력함에 감탄한 우리, </a:t>
            </a:r>
            <a:r>
              <a:rPr lang="ko-KR" sz="2400" b="1">
                <a:solidFill>
                  <a:schemeClr val="dk1"/>
                </a:solidFill>
                <a:latin typeface="Asta Sans"/>
                <a:ea typeface="Asta Sans"/>
                <a:cs typeface="Asta Sans"/>
                <a:sym typeface="Asta Sans"/>
              </a:rPr>
              <a:t>AI 코드 리뷰의 가능성 UP!</a:t>
            </a:r>
            <a:endParaRPr b="1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9" name="Google Shape;389;g3f4729efffc_26_37"/>
          <p:cNvSpPr/>
          <p:nvPr/>
        </p:nvSpPr>
        <p:spPr>
          <a:xfrm>
            <a:off x="5628655" y="3287217"/>
            <a:ext cx="1080000" cy="1083900"/>
          </a:xfrm>
          <a:prstGeom prst="smileyFace">
            <a:avLst>
              <a:gd name="adj" fmla="val 4653"/>
            </a:avLst>
          </a:prstGeom>
          <a:solidFill>
            <a:schemeClr val="bg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f44738b4e9_6_111"/>
          <p:cNvSpPr txBox="1">
            <a:spLocks noGrp="1"/>
          </p:cNvSpPr>
          <p:nvPr>
            <p:ph type="body" idx="1"/>
          </p:nvPr>
        </p:nvSpPr>
        <p:spPr>
          <a:xfrm>
            <a:off x="1632000" y="1860184"/>
            <a:ext cx="8928000" cy="253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ko-KR" sz="4000">
                <a:latin typeface="Asta Sans"/>
                <a:ea typeface="Asta Sans"/>
                <a:cs typeface="Asta Sans"/>
                <a:sym typeface="Asta Sans"/>
              </a:rPr>
              <a:t>Q&amp;A</a:t>
            </a:r>
            <a:endParaRPr sz="4000">
              <a:latin typeface="Asta Sans"/>
              <a:ea typeface="Asta Sans"/>
              <a:cs typeface="Asta Sans"/>
              <a:sym typeface="Asta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1824</Words>
  <Application>Microsoft Office PowerPoint</Application>
  <PresentationFormat>와이드스크린</PresentationFormat>
  <Paragraphs>406</Paragraphs>
  <Slides>30</Slides>
  <Notes>30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5" baseType="lpstr">
      <vt:lpstr>Asta Sans</vt:lpstr>
      <vt:lpstr>Malgun Gothic</vt:lpstr>
      <vt:lpstr>Arial</vt:lpstr>
      <vt:lpstr>Courier New</vt:lpstr>
      <vt:lpstr>Office 테마</vt:lpstr>
      <vt:lpstr>PowerPoint 프레젠테이션</vt:lpstr>
      <vt:lpstr>PowerPoint 프레젠테이션</vt:lpstr>
      <vt:lpstr> TDD 방식 (Workflow)</vt:lpstr>
      <vt:lpstr> TDD 방식</vt:lpstr>
      <vt:lpstr> 기능 추가 미션 (Workflow)</vt:lpstr>
      <vt:lpstr> 기능 추가 미션</vt:lpstr>
      <vt:lpstr>PowerPoint 프레젠테이션</vt:lpstr>
      <vt:lpstr> 구조 설계</vt:lpstr>
      <vt:lpstr> 구조 설계</vt:lpstr>
      <vt:lpstr> 인터페이스 설계</vt:lpstr>
      <vt:lpstr> 인터페이스 설계</vt:lpstr>
      <vt:lpstr> 인터페이스 설계</vt:lpstr>
      <vt:lpstr>PowerPoint 프레젠테이션</vt:lpstr>
      <vt:lpstr> 개요</vt:lpstr>
      <vt:lpstr>CodeFab_TeamD 협업 Workflow</vt:lpstr>
      <vt:lpstr>CodeFab_TeamD 협업 Workflow - 예시</vt:lpstr>
      <vt:lpstr> Pull Request 포맷 고정</vt:lpstr>
      <vt:lpstr> Pull Request 포맷 고정 - 예시</vt:lpstr>
      <vt:lpstr> Pull Request 포맷 고정 - 예시</vt:lpstr>
      <vt:lpstr> Pull Request 포맷 고정 - 예시</vt:lpstr>
      <vt:lpstr> Pull Request 봇 사용</vt:lpstr>
      <vt:lpstr> Pull Request 봇 사용 - 예시</vt:lpstr>
      <vt:lpstr>PowerPoint 프레젠테이션</vt:lpstr>
      <vt:lpstr>[prompt] 구구단</vt:lpstr>
      <vt:lpstr>[run] 동물 보호소 프로젝트</vt:lpstr>
      <vt:lpstr>[debug] watch, variable test</vt:lpstr>
      <vt:lpstr>[debug] class, import test</vt:lpstr>
      <vt:lpstr>PowerPoint 프레젠테이션</vt:lpstr>
      <vt:lpstr> 회고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linejin1313@gmail.com</dc:creator>
  <cp:lastModifiedBy>User</cp:lastModifiedBy>
  <cp:revision>1</cp:revision>
  <dcterms:created xsi:type="dcterms:W3CDTF">2024-04-15T01:50:35Z</dcterms:created>
  <dcterms:modified xsi:type="dcterms:W3CDTF">2026-07-10T05:51:40Z</dcterms:modified>
</cp:coreProperties>
</file>